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0"/>
  </p:notesMasterIdLst>
  <p:sldIdLst>
    <p:sldId id="256" r:id="rId2"/>
    <p:sldId id="258" r:id="rId3"/>
    <p:sldId id="261" r:id="rId4"/>
    <p:sldId id="265" r:id="rId5"/>
    <p:sldId id="314" r:id="rId6"/>
    <p:sldId id="315" r:id="rId7"/>
    <p:sldId id="320" r:id="rId8"/>
    <p:sldId id="306" r:id="rId9"/>
    <p:sldId id="310" r:id="rId10"/>
    <p:sldId id="264" r:id="rId11"/>
    <p:sldId id="319" r:id="rId12"/>
    <p:sldId id="274" r:id="rId13"/>
    <p:sldId id="307" r:id="rId14"/>
    <p:sldId id="321" r:id="rId15"/>
    <p:sldId id="316" r:id="rId16"/>
    <p:sldId id="263" r:id="rId17"/>
    <p:sldId id="268" r:id="rId18"/>
    <p:sldId id="269" r:id="rId19"/>
    <p:sldId id="312" r:id="rId20"/>
    <p:sldId id="266" r:id="rId21"/>
    <p:sldId id="308" r:id="rId22"/>
    <p:sldId id="311" r:id="rId23"/>
    <p:sldId id="313" r:id="rId24"/>
    <p:sldId id="309" r:id="rId25"/>
    <p:sldId id="262" r:id="rId26"/>
    <p:sldId id="317" r:id="rId27"/>
    <p:sldId id="322" r:id="rId28"/>
    <p:sldId id="267" r:id="rId29"/>
  </p:sldIdLst>
  <p:sldSz cx="9144000" cy="5143500" type="screen16x9"/>
  <p:notesSz cx="6858000" cy="9144000"/>
  <p:embeddedFontLst>
    <p:embeddedFont>
      <p:font typeface="Anaheim" panose="020B0604020202020204" charset="0"/>
      <p:regular r:id="rId31"/>
      <p:bold r:id="rId32"/>
    </p:embeddedFont>
    <p:embeddedFont>
      <p:font typeface="Bebas Neue" panose="020B0606020202050201" pitchFamily="34" charset="0"/>
      <p:regular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Black" panose="00000A00000000000000" pitchFamily="2" charset="0"/>
      <p:bold r:id="rId38"/>
      <p:boldItalic r:id="rId39"/>
    </p:embeddedFont>
    <p:embeddedFont>
      <p:font typeface="PT Sans" panose="020B0503020203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508446-8F3F-412B-A632-81536700A975}">
  <a:tblStyle styleId="{01508446-8F3F-412B-A632-81536700A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1734a882cf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1734a882cf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>
          <a:extLst>
            <a:ext uri="{FF2B5EF4-FFF2-40B4-BE49-F238E27FC236}">
              <a16:creationId xmlns:a16="http://schemas.microsoft.com/office/drawing/2014/main" id="{4E1CBC71-4595-043D-A24C-705E54E3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>
            <a:extLst>
              <a:ext uri="{FF2B5EF4-FFF2-40B4-BE49-F238E27FC236}">
                <a16:creationId xmlns:a16="http://schemas.microsoft.com/office/drawing/2014/main" id="{1CF9B92B-CE70-9A4D-1F91-1B1B89CB2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>
            <a:extLst>
              <a:ext uri="{FF2B5EF4-FFF2-40B4-BE49-F238E27FC236}">
                <a16:creationId xmlns:a16="http://schemas.microsoft.com/office/drawing/2014/main" id="{BF344359-3B79-3737-B6D4-FAA3214B2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9023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>
          <a:extLst>
            <a:ext uri="{FF2B5EF4-FFF2-40B4-BE49-F238E27FC236}">
              <a16:creationId xmlns:a16="http://schemas.microsoft.com/office/drawing/2014/main" id="{8E1AE95D-4428-5E76-94BA-380E7F69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>
            <a:extLst>
              <a:ext uri="{FF2B5EF4-FFF2-40B4-BE49-F238E27FC236}">
                <a16:creationId xmlns:a16="http://schemas.microsoft.com/office/drawing/2014/main" id="{72516672-08D1-85FB-BBE5-8BD09D3A9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>
            <a:extLst>
              <a:ext uri="{FF2B5EF4-FFF2-40B4-BE49-F238E27FC236}">
                <a16:creationId xmlns:a16="http://schemas.microsoft.com/office/drawing/2014/main" id="{D3F4C7D4-850E-0574-DC17-914F7C355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067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>
          <a:extLst>
            <a:ext uri="{FF2B5EF4-FFF2-40B4-BE49-F238E27FC236}">
              <a16:creationId xmlns:a16="http://schemas.microsoft.com/office/drawing/2014/main" id="{DEAB0767-8E27-401A-AA3E-5D7E096C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734a882cf6_0_1566:notes">
            <a:extLst>
              <a:ext uri="{FF2B5EF4-FFF2-40B4-BE49-F238E27FC236}">
                <a16:creationId xmlns:a16="http://schemas.microsoft.com/office/drawing/2014/main" id="{12AD0A52-68F2-DFC1-4725-42500D657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734a882cf6_0_1566:notes">
            <a:extLst>
              <a:ext uri="{FF2B5EF4-FFF2-40B4-BE49-F238E27FC236}">
                <a16:creationId xmlns:a16="http://schemas.microsoft.com/office/drawing/2014/main" id="{33E07AD4-2C6A-FDCF-6470-433A2D5BF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0825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5E561FC3-C130-266D-179C-412C4620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12B7B416-C105-7845-0B03-7C651258D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B434A91B-F2A0-DF5A-773E-F55B542E1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326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>
          <a:extLst>
            <a:ext uri="{FF2B5EF4-FFF2-40B4-BE49-F238E27FC236}">
              <a16:creationId xmlns:a16="http://schemas.microsoft.com/office/drawing/2014/main" id="{6BCEA240-D371-D34A-685C-A1FB0915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>
            <a:extLst>
              <a:ext uri="{FF2B5EF4-FFF2-40B4-BE49-F238E27FC236}">
                <a16:creationId xmlns:a16="http://schemas.microsoft.com/office/drawing/2014/main" id="{687CE68D-1951-0097-98A9-2B9DD4B00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>
            <a:extLst>
              <a:ext uri="{FF2B5EF4-FFF2-40B4-BE49-F238E27FC236}">
                <a16:creationId xmlns:a16="http://schemas.microsoft.com/office/drawing/2014/main" id="{E4C6D415-CEF6-1F62-88C7-A95001D0A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377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1734a882cf6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1734a882cf6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>
          <a:extLst>
            <a:ext uri="{FF2B5EF4-FFF2-40B4-BE49-F238E27FC236}">
              <a16:creationId xmlns:a16="http://schemas.microsoft.com/office/drawing/2014/main" id="{23D9976F-853C-10A4-E1AC-3CC8564F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734a882cf6_0_1566:notes">
            <a:extLst>
              <a:ext uri="{FF2B5EF4-FFF2-40B4-BE49-F238E27FC236}">
                <a16:creationId xmlns:a16="http://schemas.microsoft.com/office/drawing/2014/main" id="{03D58E86-1BFF-1645-61E5-6BE06154F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734a882cf6_0_1566:notes">
            <a:extLst>
              <a:ext uri="{FF2B5EF4-FFF2-40B4-BE49-F238E27FC236}">
                <a16:creationId xmlns:a16="http://schemas.microsoft.com/office/drawing/2014/main" id="{99AAFE90-AE9E-0B1E-7955-FDC18195F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410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1734a882cf6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1734a882cf6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9C384032-EBAF-1038-841C-03A860AC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CFCA5A07-6C1B-699B-3B19-3D041210D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FEE4446B-CA2E-AFD0-4A3E-37A0B11F7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600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>
          <a:extLst>
            <a:ext uri="{FF2B5EF4-FFF2-40B4-BE49-F238E27FC236}">
              <a16:creationId xmlns:a16="http://schemas.microsoft.com/office/drawing/2014/main" id="{AD9CFE88-79FE-CC28-2D5C-59A07045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>
            <a:extLst>
              <a:ext uri="{FF2B5EF4-FFF2-40B4-BE49-F238E27FC236}">
                <a16:creationId xmlns:a16="http://schemas.microsoft.com/office/drawing/2014/main" id="{1CB0825B-112B-9048-5B7E-2022BD740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>
            <a:extLst>
              <a:ext uri="{FF2B5EF4-FFF2-40B4-BE49-F238E27FC236}">
                <a16:creationId xmlns:a16="http://schemas.microsoft.com/office/drawing/2014/main" id="{563B6E56-1AE9-5FE2-E0A2-537F00BC5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459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>
          <a:extLst>
            <a:ext uri="{FF2B5EF4-FFF2-40B4-BE49-F238E27FC236}">
              <a16:creationId xmlns:a16="http://schemas.microsoft.com/office/drawing/2014/main" id="{2004DC48-635B-523D-4926-40F952EF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>
            <a:extLst>
              <a:ext uri="{FF2B5EF4-FFF2-40B4-BE49-F238E27FC236}">
                <a16:creationId xmlns:a16="http://schemas.microsoft.com/office/drawing/2014/main" id="{BCA4DAA3-7AF2-26D4-76D9-8D63282FF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>
            <a:extLst>
              <a:ext uri="{FF2B5EF4-FFF2-40B4-BE49-F238E27FC236}">
                <a16:creationId xmlns:a16="http://schemas.microsoft.com/office/drawing/2014/main" id="{59B82308-BC6A-0D2B-DB54-A17B1FAA0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475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1734a882cf6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1734a882cf6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>
          <a:extLst>
            <a:ext uri="{FF2B5EF4-FFF2-40B4-BE49-F238E27FC236}">
              <a16:creationId xmlns:a16="http://schemas.microsoft.com/office/drawing/2014/main" id="{F9A6F7C5-060D-CAF3-8DBA-3DC43D8C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>
            <a:extLst>
              <a:ext uri="{FF2B5EF4-FFF2-40B4-BE49-F238E27FC236}">
                <a16:creationId xmlns:a16="http://schemas.microsoft.com/office/drawing/2014/main" id="{8377F453-01AA-6F01-B24B-DD2BA9A23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>
            <a:extLst>
              <a:ext uri="{FF2B5EF4-FFF2-40B4-BE49-F238E27FC236}">
                <a16:creationId xmlns:a16="http://schemas.microsoft.com/office/drawing/2014/main" id="{E2B7EE0C-C31B-36F0-4BD8-6C496AD87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288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65E0AE3D-FC58-E328-8394-54BB907C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A0D7E01E-179E-C8C8-2811-B5AE2C5AE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14F07081-214A-6381-64A7-60C502515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9021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>
          <a:extLst>
            <a:ext uri="{FF2B5EF4-FFF2-40B4-BE49-F238E27FC236}">
              <a16:creationId xmlns:a16="http://schemas.microsoft.com/office/drawing/2014/main" id="{9483DDC8-5DFA-390E-4758-F7BE89CD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734a882cf6_0_153:notes">
            <a:extLst>
              <a:ext uri="{FF2B5EF4-FFF2-40B4-BE49-F238E27FC236}">
                <a16:creationId xmlns:a16="http://schemas.microsoft.com/office/drawing/2014/main" id="{2AD171B4-DC2A-4D56-3602-D5E92ABC5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734a882cf6_0_153:notes">
            <a:extLst>
              <a:ext uri="{FF2B5EF4-FFF2-40B4-BE49-F238E27FC236}">
                <a16:creationId xmlns:a16="http://schemas.microsoft.com/office/drawing/2014/main" id="{C405E56C-447B-258C-0914-3338A728E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336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>
          <a:extLst>
            <a:ext uri="{FF2B5EF4-FFF2-40B4-BE49-F238E27FC236}">
              <a16:creationId xmlns:a16="http://schemas.microsoft.com/office/drawing/2014/main" id="{B3AD26F0-319A-B798-AD46-CB542141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1734a882cf6_0_316:notes">
            <a:extLst>
              <a:ext uri="{FF2B5EF4-FFF2-40B4-BE49-F238E27FC236}">
                <a16:creationId xmlns:a16="http://schemas.microsoft.com/office/drawing/2014/main" id="{26550F12-4C04-7705-D1CC-153A1BFAF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1734a882cf6_0_316:notes">
            <a:extLst>
              <a:ext uri="{FF2B5EF4-FFF2-40B4-BE49-F238E27FC236}">
                <a16:creationId xmlns:a16="http://schemas.microsoft.com/office/drawing/2014/main" id="{2EC585AC-9C06-2AA3-978A-AC2589A07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273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>
          <a:extLst>
            <a:ext uri="{FF2B5EF4-FFF2-40B4-BE49-F238E27FC236}">
              <a16:creationId xmlns:a16="http://schemas.microsoft.com/office/drawing/2014/main" id="{9B0F869B-9DDD-C2AB-8612-D50AF1C3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>
            <a:extLst>
              <a:ext uri="{FF2B5EF4-FFF2-40B4-BE49-F238E27FC236}">
                <a16:creationId xmlns:a16="http://schemas.microsoft.com/office/drawing/2014/main" id="{6B84BF9A-5905-0EC6-1DC0-FB4140487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>
            <a:extLst>
              <a:ext uri="{FF2B5EF4-FFF2-40B4-BE49-F238E27FC236}">
                <a16:creationId xmlns:a16="http://schemas.microsoft.com/office/drawing/2014/main" id="{9848FFC2-4AC4-8B4F-67B9-EA024D377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723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>
          <a:extLst>
            <a:ext uri="{FF2B5EF4-FFF2-40B4-BE49-F238E27FC236}">
              <a16:creationId xmlns:a16="http://schemas.microsoft.com/office/drawing/2014/main" id="{A9ADB500-4474-3FD1-C04B-6AC53B19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1734a882cf6_0_811:notes">
            <a:extLst>
              <a:ext uri="{FF2B5EF4-FFF2-40B4-BE49-F238E27FC236}">
                <a16:creationId xmlns:a16="http://schemas.microsoft.com/office/drawing/2014/main" id="{344288D2-CB81-FC1E-0FE5-364AB1412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1734a882cf6_0_811:notes">
            <a:extLst>
              <a:ext uri="{FF2B5EF4-FFF2-40B4-BE49-F238E27FC236}">
                <a16:creationId xmlns:a16="http://schemas.microsoft.com/office/drawing/2014/main" id="{AF83C903-DF76-254F-C71B-2519B1290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648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1734a882cf6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1734a882cf6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778125"/>
            <a:ext cx="3627900" cy="376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3"/>
          <p:cNvSpPr txBox="1">
            <a:spLocks noGrp="1"/>
          </p:cNvSpPr>
          <p:nvPr>
            <p:ph type="subTitle" idx="1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3"/>
          <p:cNvSpPr txBox="1">
            <a:spLocks noGrp="1"/>
          </p:cNvSpPr>
          <p:nvPr>
            <p:ph type="subTitle" idx="2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subTitle" idx="3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3"/>
          <p:cNvSpPr txBox="1">
            <a:spLocks noGrp="1"/>
          </p:cNvSpPr>
          <p:nvPr>
            <p:ph type="subTitle" idx="4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3"/>
          <p:cNvSpPr txBox="1">
            <a:spLocks noGrp="1"/>
          </p:cNvSpPr>
          <p:nvPr>
            <p:ph type="subTitle" idx="5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7" name="Google Shape;847;p23"/>
          <p:cNvSpPr txBox="1">
            <a:spLocks noGrp="1"/>
          </p:cNvSpPr>
          <p:nvPr>
            <p:ph type="subTitle" idx="6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8" name="Google Shape;848;p23"/>
          <p:cNvSpPr txBox="1">
            <a:spLocks noGrp="1"/>
          </p:cNvSpPr>
          <p:nvPr>
            <p:ph type="subTitle" idx="7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3"/>
          <p:cNvSpPr txBox="1">
            <a:spLocks noGrp="1"/>
          </p:cNvSpPr>
          <p:nvPr>
            <p:ph type="subTitle" idx="8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9" r:id="rId12"/>
    <p:sldLayoutId id="2147483671" r:id="rId13"/>
    <p:sldLayoutId id="2147483673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-207176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451843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691152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4400275" y="421324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179111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35"/>
          <p:cNvSpPr txBox="1">
            <a:spLocks noGrp="1"/>
          </p:cNvSpPr>
          <p:nvPr>
            <p:ph type="ctrTitle"/>
          </p:nvPr>
        </p:nvSpPr>
        <p:spPr>
          <a:xfrm>
            <a:off x="328319" y="1694412"/>
            <a:ext cx="8297562" cy="1754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de-DE" sz="3200" dirty="0"/>
              <a:t>Mobile Bildverarbeitung zur Fehlererkennung und </a:t>
            </a:r>
            <a:br>
              <a:rPr lang="de-DE" sz="3200" dirty="0"/>
            </a:br>
            <a:r>
              <a:rPr lang="de-DE" sz="3200" dirty="0"/>
              <a:t>-klassifizierung in der Produktion</a:t>
            </a: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35"/>
          <p:cNvSpPr txBox="1">
            <a:spLocks noGrp="1"/>
          </p:cNvSpPr>
          <p:nvPr>
            <p:ph type="subTitle" idx="1"/>
          </p:nvPr>
        </p:nvSpPr>
        <p:spPr>
          <a:xfrm>
            <a:off x="385773" y="4357158"/>
            <a:ext cx="2907305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Noel Sappeck | sk237 Pötsch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Gliederung</a:t>
            </a:r>
            <a:endParaRPr dirty="0"/>
          </a:p>
        </p:txBody>
      </p:sp>
      <p:sp>
        <p:nvSpPr>
          <p:cNvPr id="1275" name="Google Shape;1275;p37"/>
          <p:cNvSpPr txBox="1">
            <a:spLocks noGrp="1"/>
          </p:cNvSpPr>
          <p:nvPr>
            <p:ph type="title" idx="2"/>
          </p:nvPr>
        </p:nvSpPr>
        <p:spPr>
          <a:xfrm>
            <a:off x="890575" y="152095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76" name="Google Shape;1276;p37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Einleitung</a:t>
            </a:r>
            <a:endParaRPr dirty="0"/>
          </a:p>
        </p:txBody>
      </p:sp>
      <p:sp>
        <p:nvSpPr>
          <p:cNvPr id="1278" name="Google Shape;1278;p37"/>
          <p:cNvSpPr txBox="1">
            <a:spLocks noGrp="1"/>
          </p:cNvSpPr>
          <p:nvPr>
            <p:ph type="title" idx="5"/>
          </p:nvPr>
        </p:nvSpPr>
        <p:spPr>
          <a:xfrm>
            <a:off x="890575" y="215403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Theoretische Grundlage</a:t>
            </a:r>
            <a:endParaRPr dirty="0"/>
          </a:p>
        </p:txBody>
      </p:sp>
      <p:sp>
        <p:nvSpPr>
          <p:cNvPr id="1281" name="Google Shape;1281;p37"/>
          <p:cNvSpPr txBox="1">
            <a:spLocks noGrp="1"/>
          </p:cNvSpPr>
          <p:nvPr>
            <p:ph type="title" idx="8"/>
          </p:nvPr>
        </p:nvSpPr>
        <p:spPr>
          <a:xfrm>
            <a:off x="890575" y="278712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82" name="Google Shape;1282;p37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de-DE" dirty="0"/>
              <a:t>Methodisches Vorgehen</a:t>
            </a:r>
          </a:p>
        </p:txBody>
      </p:sp>
      <p:sp>
        <p:nvSpPr>
          <p:cNvPr id="1284" name="Google Shape;1284;p37"/>
          <p:cNvSpPr txBox="1">
            <a:spLocks noGrp="1"/>
          </p:cNvSpPr>
          <p:nvPr>
            <p:ph type="title" idx="14"/>
          </p:nvPr>
        </p:nvSpPr>
        <p:spPr>
          <a:xfrm>
            <a:off x="890575" y="3420205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85" name="Google Shape;1285;p37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</a:t>
            </a:r>
            <a:endParaRPr dirty="0"/>
          </a:p>
        </p:txBody>
      </p:sp>
      <p:sp>
        <p:nvSpPr>
          <p:cNvPr id="1287" name="Google Shape;1287;p37"/>
          <p:cNvSpPr txBox="1">
            <a:spLocks noGrp="1"/>
          </p:cNvSpPr>
          <p:nvPr>
            <p:ph type="title" idx="17"/>
          </p:nvPr>
        </p:nvSpPr>
        <p:spPr>
          <a:xfrm>
            <a:off x="890575" y="4053290"/>
            <a:ext cx="976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88" name="Google Shape;1288;p37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Ergebnisse</a:t>
            </a:r>
            <a:endParaRPr dirty="0"/>
          </a:p>
        </p:txBody>
      </p:sp>
      <p:grpSp>
        <p:nvGrpSpPr>
          <p:cNvPr id="1289" name="Google Shape;1289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0" name="Google Shape;1290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/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1385" name="Google Shape;1385;p40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Einleitung</a:t>
            </a:r>
            <a:endParaRPr dirty="0"/>
          </a:p>
        </p:txBody>
      </p:sp>
      <p:grpSp>
        <p:nvGrpSpPr>
          <p:cNvPr id="1390" name="Google Shape;1390;p40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/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4040AB9-A33B-1FF3-4B66-17812634AA44}"/>
              </a:ext>
            </a:extLst>
          </p:cNvPr>
          <p:cNvSpPr txBox="1"/>
          <p:nvPr/>
        </p:nvSpPr>
        <p:spPr>
          <a:xfrm>
            <a:off x="720000" y="3266264"/>
            <a:ext cx="5795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Inwieweit eignet sich ein mobiles Bildverarbeitungssystem zur automatisierten Fehlererkennung in der Produktion?</a:t>
            </a:r>
          </a:p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2" name="Google Shape;1532;p44"/>
          <p:cNvGrpSpPr/>
          <p:nvPr/>
        </p:nvGrpSpPr>
        <p:grpSpPr>
          <a:xfrm>
            <a:off x="971350" y="1328513"/>
            <a:ext cx="76825" cy="76800"/>
            <a:chOff x="3104875" y="1099400"/>
            <a:chExt cx="76825" cy="76800"/>
          </a:xfrm>
        </p:grpSpPr>
        <p:sp>
          <p:nvSpPr>
            <p:cNvPr id="1533" name="Google Shape;1533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5" name="Google Shape;1535;p44"/>
          <p:cNvGrpSpPr/>
          <p:nvPr/>
        </p:nvGrpSpPr>
        <p:grpSpPr>
          <a:xfrm>
            <a:off x="1235150" y="4006963"/>
            <a:ext cx="76825" cy="76800"/>
            <a:chOff x="3104875" y="1099400"/>
            <a:chExt cx="76825" cy="76800"/>
          </a:xfrm>
        </p:grpSpPr>
        <p:sp>
          <p:nvSpPr>
            <p:cNvPr id="1536" name="Google Shape;1536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8" name="Google Shape;1538;p44"/>
          <p:cNvGrpSpPr/>
          <p:nvPr/>
        </p:nvGrpSpPr>
        <p:grpSpPr>
          <a:xfrm>
            <a:off x="8074025" y="2689263"/>
            <a:ext cx="76825" cy="76800"/>
            <a:chOff x="3104875" y="1099400"/>
            <a:chExt cx="76825" cy="76800"/>
          </a:xfrm>
        </p:grpSpPr>
        <p:sp>
          <p:nvSpPr>
            <p:cNvPr id="1539" name="Google Shape;1539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41" name="Google Shape;1541;p44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020103">
            <a:off x="8056870" y="102039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44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220421">
            <a:off x="233474" y="2300022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7AEB189-8FEC-E3CD-3747-3CB458FDF7C4}"/>
              </a:ext>
            </a:extLst>
          </p:cNvPr>
          <p:cNvSpPr txBox="1"/>
          <p:nvPr/>
        </p:nvSpPr>
        <p:spPr>
          <a:xfrm>
            <a:off x="1013407" y="346180"/>
            <a:ext cx="7664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Bedeutung der Qualitätssicherung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BD4C45-6D15-9FC3-A950-DE1397CFEB1B}"/>
              </a:ext>
            </a:extLst>
          </p:cNvPr>
          <p:cNvSpPr txBox="1"/>
          <p:nvPr/>
        </p:nvSpPr>
        <p:spPr>
          <a:xfrm>
            <a:off x="1963197" y="1851397"/>
            <a:ext cx="5217605" cy="1752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Vermeidung von Ausschuss und Produktionskosten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Sicherstellung gleichbleibender Produktqualität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Einhaltung von Normen und Qualitätsstandards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Vertrauen und Image bei Kunden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>
          <a:extLst>
            <a:ext uri="{FF2B5EF4-FFF2-40B4-BE49-F238E27FC236}">
              <a16:creationId xmlns:a16="http://schemas.microsoft.com/office/drawing/2014/main" id="{6A92469F-929A-9656-0E86-31526E9C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3903D34-9D74-8727-7C17-AF81904AA96B}"/>
              </a:ext>
            </a:extLst>
          </p:cNvPr>
          <p:cNvSpPr txBox="1"/>
          <p:nvPr/>
        </p:nvSpPr>
        <p:spPr>
          <a:xfrm>
            <a:off x="687685" y="353775"/>
            <a:ext cx="58911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Gründe für Bildverarbeitungssysteme</a:t>
            </a:r>
          </a:p>
        </p:txBody>
      </p:sp>
      <p:grpSp>
        <p:nvGrpSpPr>
          <p:cNvPr id="1621" name="Google Shape;1621;p47">
            <a:extLst>
              <a:ext uri="{FF2B5EF4-FFF2-40B4-BE49-F238E27FC236}">
                <a16:creationId xmlns:a16="http://schemas.microsoft.com/office/drawing/2014/main" id="{0A4C292F-7ACF-19AA-C37A-76C274590D69}"/>
              </a:ext>
            </a:extLst>
          </p:cNvPr>
          <p:cNvGrpSpPr/>
          <p:nvPr/>
        </p:nvGrpSpPr>
        <p:grpSpPr>
          <a:xfrm>
            <a:off x="203036" y="4326117"/>
            <a:ext cx="76825" cy="76800"/>
            <a:chOff x="3104875" y="1099400"/>
            <a:chExt cx="76825" cy="76800"/>
          </a:xfrm>
        </p:grpSpPr>
        <p:sp>
          <p:nvSpPr>
            <p:cNvPr id="1622" name="Google Shape;1622;p47">
              <a:extLst>
                <a:ext uri="{FF2B5EF4-FFF2-40B4-BE49-F238E27FC236}">
                  <a16:creationId xmlns:a16="http://schemas.microsoft.com/office/drawing/2014/main" id="{8D9625F8-98A8-76DA-FAB2-5201E439F6C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>
              <a:extLst>
                <a:ext uri="{FF2B5EF4-FFF2-40B4-BE49-F238E27FC236}">
                  <a16:creationId xmlns:a16="http://schemas.microsoft.com/office/drawing/2014/main" id="{3146E8FE-ACB5-DFE5-ECDC-0A65AF2D6DF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49324A26-0D4D-649E-BEDE-695B76A6F21C}"/>
              </a:ext>
            </a:extLst>
          </p:cNvPr>
          <p:cNvGrpSpPr/>
          <p:nvPr/>
        </p:nvGrpSpPr>
        <p:grpSpPr>
          <a:xfrm>
            <a:off x="5325880" y="508459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B16B2369-3AD8-9AE9-8D8E-E86F5BA34E7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02F813FC-67FA-F806-9056-128D6F84AF2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50F58CDF-0094-1453-1A0F-3788E61E799E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7334BF48-245F-E6ED-F8CB-3121E902739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060F149F-BC15-03B3-A6E6-E8A5287B9E6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>
            <a:extLst>
              <a:ext uri="{FF2B5EF4-FFF2-40B4-BE49-F238E27FC236}">
                <a16:creationId xmlns:a16="http://schemas.microsoft.com/office/drawing/2014/main" id="{20FCAAA2-0652-2113-36C2-3B60D82197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>
            <a:extLst>
              <a:ext uri="{FF2B5EF4-FFF2-40B4-BE49-F238E27FC236}">
                <a16:creationId xmlns:a16="http://schemas.microsoft.com/office/drawing/2014/main" id="{8B578A8B-E86C-910F-E05C-EF801B9150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>
            <a:extLst>
              <a:ext uri="{FF2B5EF4-FFF2-40B4-BE49-F238E27FC236}">
                <a16:creationId xmlns:a16="http://schemas.microsoft.com/office/drawing/2014/main" id="{7E73C246-AAA9-BF2E-CB62-026E7A7C46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958628" y="4362819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4F1BB9C0-EA56-EA2D-1ED3-C433F11A330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E70CB0-EA86-1379-2AA9-DF0DC6123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89" y="2040786"/>
            <a:ext cx="4570482" cy="17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Schnelle Analyse großer Produktmengen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Hohe und konstante Erkennungsgenauigkeit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Objektive und reproduzierbare Bewertung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Möglichkeit der 100 %-Kontrolle aller Teile</a:t>
            </a:r>
          </a:p>
        </p:txBody>
      </p:sp>
    </p:spTree>
    <p:extLst>
      <p:ext uri="{BB962C8B-B14F-4D97-AF65-F5344CB8AC3E}">
        <p14:creationId xmlns:p14="http://schemas.microsoft.com/office/powerpoint/2010/main" val="3220770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>
          <a:extLst>
            <a:ext uri="{FF2B5EF4-FFF2-40B4-BE49-F238E27FC236}">
              <a16:creationId xmlns:a16="http://schemas.microsoft.com/office/drawing/2014/main" id="{AA98E293-41BB-DA10-9DAB-1934B9C2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>
            <a:extLst>
              <a:ext uri="{FF2B5EF4-FFF2-40B4-BE49-F238E27FC236}">
                <a16:creationId xmlns:a16="http://schemas.microsoft.com/office/drawing/2014/main" id="{2542378A-995B-B917-FB55-D77A03D77DC4}"/>
              </a:ext>
            </a:extLst>
          </p:cNvPr>
          <p:cNvGrpSpPr/>
          <p:nvPr/>
        </p:nvGrpSpPr>
        <p:grpSpPr>
          <a:xfrm>
            <a:off x="357496" y="3863429"/>
            <a:ext cx="76825" cy="76800"/>
            <a:chOff x="3104875" y="1099400"/>
            <a:chExt cx="76825" cy="76800"/>
          </a:xfrm>
        </p:grpSpPr>
        <p:sp>
          <p:nvSpPr>
            <p:cNvPr id="1622" name="Google Shape;1622;p47">
              <a:extLst>
                <a:ext uri="{FF2B5EF4-FFF2-40B4-BE49-F238E27FC236}">
                  <a16:creationId xmlns:a16="http://schemas.microsoft.com/office/drawing/2014/main" id="{8B81CC56-8EFC-B595-32A1-CD76A0FA3F2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>
              <a:extLst>
                <a:ext uri="{FF2B5EF4-FFF2-40B4-BE49-F238E27FC236}">
                  <a16:creationId xmlns:a16="http://schemas.microsoft.com/office/drawing/2014/main" id="{D77602B3-C49F-FBB4-65BC-52CF0DA5246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B9180C35-E507-A557-781B-DFAD52DD2DE4}"/>
              </a:ext>
            </a:extLst>
          </p:cNvPr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DC25AC61-14CD-491D-DA4A-28D073276CA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32420FE5-22DD-02E5-C278-D24E25A1E5F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8419B7D7-035A-C86F-0276-4637F73E743E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7567C3F8-2E39-9BA9-7EA7-6366E1AC8EC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877A0658-F4B4-4A09-A4A6-48D29B857EF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>
            <a:extLst>
              <a:ext uri="{FF2B5EF4-FFF2-40B4-BE49-F238E27FC236}">
                <a16:creationId xmlns:a16="http://schemas.microsoft.com/office/drawing/2014/main" id="{F0996454-E92C-4C76-E418-89B1664A2B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>
            <a:extLst>
              <a:ext uri="{FF2B5EF4-FFF2-40B4-BE49-F238E27FC236}">
                <a16:creationId xmlns:a16="http://schemas.microsoft.com/office/drawing/2014/main" id="{49953838-993D-1A6F-14D7-DCF442556B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>
            <a:extLst>
              <a:ext uri="{FF2B5EF4-FFF2-40B4-BE49-F238E27FC236}">
                <a16:creationId xmlns:a16="http://schemas.microsoft.com/office/drawing/2014/main" id="{A01AAC59-2A2B-48CF-DEF9-4EE4B345DC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050025" y="3474924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5C84991A-A5C7-56DF-E00E-FF94E8A6968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29159" y="3926493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9610120-79BA-F3D5-B3DF-602125DE6342}"/>
              </a:ext>
            </a:extLst>
          </p:cNvPr>
          <p:cNvSpPr txBox="1"/>
          <p:nvPr/>
        </p:nvSpPr>
        <p:spPr>
          <a:xfrm>
            <a:off x="687685" y="353775"/>
            <a:ext cx="58911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Grenzen der manuellen Qualitätskontrolle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E043D3-7FF0-DF7B-E346-BDB5E1CBA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776" y="2028313"/>
            <a:ext cx="4685898" cy="17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Zeitaufwendig bei großen Stückzahlen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Fehleranfällig durch Ermüdung des Menschen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Subjektive Bewertung möglich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Begrenzte Geschwindigkeit der Kontrolle</a:t>
            </a:r>
          </a:p>
        </p:txBody>
      </p:sp>
    </p:spTree>
    <p:extLst>
      <p:ext uri="{BB962C8B-B14F-4D97-AF65-F5344CB8AC3E}">
        <p14:creationId xmlns:p14="http://schemas.microsoft.com/office/powerpoint/2010/main" val="277206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>
          <a:extLst>
            <a:ext uri="{FF2B5EF4-FFF2-40B4-BE49-F238E27FC236}">
              <a16:creationId xmlns:a16="http://schemas.microsoft.com/office/drawing/2014/main" id="{FEA5B16F-665D-AC12-501D-F17FA83A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1">
            <a:extLst>
              <a:ext uri="{FF2B5EF4-FFF2-40B4-BE49-F238E27FC236}">
                <a16:creationId xmlns:a16="http://schemas.microsoft.com/office/drawing/2014/main" id="{41B88DB7-BFAF-97F8-72B5-32D391108A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1">
            <a:extLst>
              <a:ext uri="{FF2B5EF4-FFF2-40B4-BE49-F238E27FC236}">
                <a16:creationId xmlns:a16="http://schemas.microsoft.com/office/drawing/2014/main" id="{84A0EE65-BF5C-DD38-D0C9-F029F37856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152297">
            <a:off x="8497319" y="-52974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1">
            <a:extLst>
              <a:ext uri="{FF2B5EF4-FFF2-40B4-BE49-F238E27FC236}">
                <a16:creationId xmlns:a16="http://schemas.microsoft.com/office/drawing/2014/main" id="{816E5A77-2A73-30E9-1954-67F5D5A99B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870355" y="3805793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41">
            <a:extLst>
              <a:ext uri="{FF2B5EF4-FFF2-40B4-BE49-F238E27FC236}">
                <a16:creationId xmlns:a16="http://schemas.microsoft.com/office/drawing/2014/main" id="{52CE8F8F-1A59-23FD-3A94-0EB1ACCE2CE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41">
            <a:extLst>
              <a:ext uri="{FF2B5EF4-FFF2-40B4-BE49-F238E27FC236}">
                <a16:creationId xmlns:a16="http://schemas.microsoft.com/office/drawing/2014/main" id="{B979B325-A36E-73A2-9AAE-C7569D2A10E5}"/>
              </a:ext>
            </a:extLst>
          </p:cNvPr>
          <p:cNvGrpSpPr/>
          <p:nvPr/>
        </p:nvGrpSpPr>
        <p:grpSpPr>
          <a:xfrm>
            <a:off x="375430" y="3840416"/>
            <a:ext cx="76825" cy="76800"/>
            <a:chOff x="3104875" y="1099400"/>
            <a:chExt cx="76825" cy="76800"/>
          </a:xfrm>
        </p:grpSpPr>
        <p:sp>
          <p:nvSpPr>
            <p:cNvPr id="1409" name="Google Shape;1409;p41">
              <a:extLst>
                <a:ext uri="{FF2B5EF4-FFF2-40B4-BE49-F238E27FC236}">
                  <a16:creationId xmlns:a16="http://schemas.microsoft.com/office/drawing/2014/main" id="{633AA9AB-9C12-9937-FF00-7A2BEF3539B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>
              <a:extLst>
                <a:ext uri="{FF2B5EF4-FFF2-40B4-BE49-F238E27FC236}">
                  <a16:creationId xmlns:a16="http://schemas.microsoft.com/office/drawing/2014/main" id="{3520BF7A-7112-9739-5F4D-F103C52F2D3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41">
            <a:extLst>
              <a:ext uri="{FF2B5EF4-FFF2-40B4-BE49-F238E27FC236}">
                <a16:creationId xmlns:a16="http://schemas.microsoft.com/office/drawing/2014/main" id="{D57F06F4-D440-457A-6C26-A221382DC608}"/>
              </a:ext>
            </a:extLst>
          </p:cNvPr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2" name="Google Shape;1412;p41">
              <a:extLst>
                <a:ext uri="{FF2B5EF4-FFF2-40B4-BE49-F238E27FC236}">
                  <a16:creationId xmlns:a16="http://schemas.microsoft.com/office/drawing/2014/main" id="{8F78CCC2-4C0B-A6A8-920D-3248B257B11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>
              <a:extLst>
                <a:ext uri="{FF2B5EF4-FFF2-40B4-BE49-F238E27FC236}">
                  <a16:creationId xmlns:a16="http://schemas.microsoft.com/office/drawing/2014/main" id="{30BD2D5F-D403-489C-7B0E-9AC522EEE57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>
            <a:extLst>
              <a:ext uri="{FF2B5EF4-FFF2-40B4-BE49-F238E27FC236}">
                <a16:creationId xmlns:a16="http://schemas.microsoft.com/office/drawing/2014/main" id="{A8A09C2D-2ED6-CD19-A50D-63D347BFCAEC}"/>
              </a:ext>
            </a:extLst>
          </p:cNvPr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5" name="Google Shape;1415;p41">
              <a:extLst>
                <a:ext uri="{FF2B5EF4-FFF2-40B4-BE49-F238E27FC236}">
                  <a16:creationId xmlns:a16="http://schemas.microsoft.com/office/drawing/2014/main" id="{1AC6A912-71F9-09E5-7FF4-7B4D5F1BF78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>
              <a:extLst>
                <a:ext uri="{FF2B5EF4-FFF2-40B4-BE49-F238E27FC236}">
                  <a16:creationId xmlns:a16="http://schemas.microsoft.com/office/drawing/2014/main" id="{197F58D4-0B39-9ECC-BDB8-AC149C9ECC1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5423D6FD-A002-C5B4-F797-29CE0F952C5E}"/>
              </a:ext>
            </a:extLst>
          </p:cNvPr>
          <p:cNvSpPr txBox="1"/>
          <p:nvPr/>
        </p:nvSpPr>
        <p:spPr>
          <a:xfrm>
            <a:off x="1013407" y="346180"/>
            <a:ext cx="7664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Ziel der Arbeit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91E03F6-F66B-C769-D6AE-51320859E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91" y="1695484"/>
            <a:ext cx="5838458" cy="17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Entwicklung eines mobilen Bildverarbeitungssystems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Automatische Erkennung von Produktionsfehlern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Klassifizierung von Bauteilen (Kratzer, fehlendes Material, …)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Implementierung in ein Unternehmen?</a:t>
            </a:r>
          </a:p>
        </p:txBody>
      </p:sp>
    </p:spTree>
    <p:extLst>
      <p:ext uri="{BB962C8B-B14F-4D97-AF65-F5344CB8AC3E}">
        <p14:creationId xmlns:p14="http://schemas.microsoft.com/office/powerpoint/2010/main" val="6700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C11B1130-682C-C4DB-310F-760045DD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89293A26-CC3F-EA22-4CE2-5F1E1F6109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88436CAE-682E-B31E-48CF-74D0B7FEE1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DCBC23CC-C507-7A9F-199F-2ABB2F10C8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12843392-D7A3-9902-F6CA-B701C04C48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A469C19D-7DC2-ECF4-2F03-30AE701E758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9F189929-E2F3-02EE-DF6B-2B2DFAF1F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de-DE" dirty="0"/>
              <a:t>Theoretische Grundlage</a:t>
            </a:r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03EC160A-13E7-2901-6781-906594BE09CC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122E3D88-A069-6470-8F06-3473C9BDF76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10CC9EA5-BCF3-68E8-B30A-1E8CEA5512D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437C3215-AEA8-D854-4082-6D82193CA9F8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F21D6AFB-0CAC-221C-9E8C-9EDBB44D36C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2CA73645-3E8F-0650-878C-2429B081C0A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0E9A9627-0736-5A33-1618-0E75DD23BA0E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6C040A50-245E-E3B3-1BE1-60A6002B509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74ECD7DD-5CE0-29EA-D706-F0F7BA521C6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9D0B92C2-B5EE-3D3A-CA3D-6C9EAC64C07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1802171-0ADB-ACAA-FEDB-633526F9A66E}"/>
              </a:ext>
            </a:extLst>
          </p:cNvPr>
          <p:cNvSpPr txBox="1"/>
          <p:nvPr/>
        </p:nvSpPr>
        <p:spPr>
          <a:xfrm>
            <a:off x="720000" y="3266264"/>
            <a:ext cx="4927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chemeClr val="tx1"/>
                </a:solidFill>
                <a:latin typeface="Montserrat" panose="00000500000000000000" pitchFamily="2" charset="0"/>
              </a:rPr>
              <a:t>Darstellung der Grundlagen von Qualitätssicherung und Bildverarbeitung</a:t>
            </a:r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64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>
          <a:extLst>
            <a:ext uri="{FF2B5EF4-FFF2-40B4-BE49-F238E27FC236}">
              <a16:creationId xmlns:a16="http://schemas.microsoft.com/office/drawing/2014/main" id="{D2EC3875-F03E-21F1-ED9F-982E4D5A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42">
            <a:extLst>
              <a:ext uri="{FF2B5EF4-FFF2-40B4-BE49-F238E27FC236}">
                <a16:creationId xmlns:a16="http://schemas.microsoft.com/office/drawing/2014/main" id="{6EF1D516-94EB-649E-D1C6-143B4587C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>
            <a:extLst>
              <a:ext uri="{FF2B5EF4-FFF2-40B4-BE49-F238E27FC236}">
                <a16:creationId xmlns:a16="http://schemas.microsoft.com/office/drawing/2014/main" id="{730B58D3-47AB-B422-C429-62EF59E4D5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>
            <a:extLst>
              <a:ext uri="{FF2B5EF4-FFF2-40B4-BE49-F238E27FC236}">
                <a16:creationId xmlns:a16="http://schemas.microsoft.com/office/drawing/2014/main" id="{CE1E2276-B140-198D-CB26-2134CD292691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27" name="Google Shape;1427;p42">
              <a:extLst>
                <a:ext uri="{FF2B5EF4-FFF2-40B4-BE49-F238E27FC236}">
                  <a16:creationId xmlns:a16="http://schemas.microsoft.com/office/drawing/2014/main" id="{6DE33D62-6B7A-F01C-6A2D-D1ED4AE9276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>
              <a:extLst>
                <a:ext uri="{FF2B5EF4-FFF2-40B4-BE49-F238E27FC236}">
                  <a16:creationId xmlns:a16="http://schemas.microsoft.com/office/drawing/2014/main" id="{A5D5306B-C52A-4FFE-6EB4-08645B27A61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>
            <a:extLst>
              <a:ext uri="{FF2B5EF4-FFF2-40B4-BE49-F238E27FC236}">
                <a16:creationId xmlns:a16="http://schemas.microsoft.com/office/drawing/2014/main" id="{9027D0E7-B7D2-B37E-8D1E-D10D141C798F}"/>
              </a:ext>
            </a:extLst>
          </p:cNvPr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>
              <a:extLst>
                <a:ext uri="{FF2B5EF4-FFF2-40B4-BE49-F238E27FC236}">
                  <a16:creationId xmlns:a16="http://schemas.microsoft.com/office/drawing/2014/main" id="{B8CD32DC-4608-DEA9-47F0-602D471DD83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>
              <a:extLst>
                <a:ext uri="{FF2B5EF4-FFF2-40B4-BE49-F238E27FC236}">
                  <a16:creationId xmlns:a16="http://schemas.microsoft.com/office/drawing/2014/main" id="{2C70CA84-C2A2-513C-2FF2-4CB1A2BA2D5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>
            <a:extLst>
              <a:ext uri="{FF2B5EF4-FFF2-40B4-BE49-F238E27FC236}">
                <a16:creationId xmlns:a16="http://schemas.microsoft.com/office/drawing/2014/main" id="{AEAD7F4D-E69F-2EB0-43BA-0C710D539F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>
            <a:extLst>
              <a:ext uri="{FF2B5EF4-FFF2-40B4-BE49-F238E27FC236}">
                <a16:creationId xmlns:a16="http://schemas.microsoft.com/office/drawing/2014/main" id="{DDA440C5-5776-8242-BBF6-FF4FD37669C0}"/>
              </a:ext>
            </a:extLst>
          </p:cNvPr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>
              <a:extLst>
                <a:ext uri="{FF2B5EF4-FFF2-40B4-BE49-F238E27FC236}">
                  <a16:creationId xmlns:a16="http://schemas.microsoft.com/office/drawing/2014/main" id="{AE0E1B4B-F14B-B299-8D27-E8BCB76900A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>
              <a:extLst>
                <a:ext uri="{FF2B5EF4-FFF2-40B4-BE49-F238E27FC236}">
                  <a16:creationId xmlns:a16="http://schemas.microsoft.com/office/drawing/2014/main" id="{06BB580C-0EBE-7E08-683C-4161BB78F45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>
            <a:extLst>
              <a:ext uri="{FF2B5EF4-FFF2-40B4-BE49-F238E27FC236}">
                <a16:creationId xmlns:a16="http://schemas.microsoft.com/office/drawing/2014/main" id="{6A29DC9C-6977-A0DD-F564-A6AAD2EDCDAF}"/>
              </a:ext>
            </a:extLst>
          </p:cNvPr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>
              <a:extLst>
                <a:ext uri="{FF2B5EF4-FFF2-40B4-BE49-F238E27FC236}">
                  <a16:creationId xmlns:a16="http://schemas.microsoft.com/office/drawing/2014/main" id="{335C8584-6E13-5AA6-5318-75225D68889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>
              <a:extLst>
                <a:ext uri="{FF2B5EF4-FFF2-40B4-BE49-F238E27FC236}">
                  <a16:creationId xmlns:a16="http://schemas.microsoft.com/office/drawing/2014/main" id="{C799DAD3-1034-5A1B-8BE4-D93FCBD027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5CE8CBA6-021A-210D-E208-E49B0940CB0B}"/>
              </a:ext>
            </a:extLst>
          </p:cNvPr>
          <p:cNvSpPr txBox="1"/>
          <p:nvPr/>
        </p:nvSpPr>
        <p:spPr>
          <a:xfrm>
            <a:off x="687686" y="353775"/>
            <a:ext cx="54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Fehler in der Produktion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E13338B-0715-7983-7D36-2A21C4EC3477}"/>
              </a:ext>
            </a:extLst>
          </p:cNvPr>
          <p:cNvSpPr txBox="1"/>
          <p:nvPr/>
        </p:nvSpPr>
        <p:spPr>
          <a:xfrm>
            <a:off x="4025272" y="1433036"/>
            <a:ext cx="3934164" cy="199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Welche Fehler passieren häufig?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Fehlendes Material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Verfärbung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Kratzer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Lufteinschlüsse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Verformungen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64D6D75-B6CA-35F9-7826-8E0BB170FFF5}"/>
              </a:ext>
            </a:extLst>
          </p:cNvPr>
          <p:cNvSpPr txBox="1"/>
          <p:nvPr/>
        </p:nvSpPr>
        <p:spPr>
          <a:xfrm>
            <a:off x="4025271" y="3721488"/>
            <a:ext cx="448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Montserrat" panose="00000500000000000000" pitchFamily="2" charset="0"/>
              </a:rPr>
              <a:t>➜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 welche Fehler sind für das Projekt machbar?</a:t>
            </a:r>
          </a:p>
        </p:txBody>
      </p:sp>
    </p:spTree>
    <p:extLst>
      <p:ext uri="{BB962C8B-B14F-4D97-AF65-F5344CB8AC3E}">
        <p14:creationId xmlns:p14="http://schemas.microsoft.com/office/powerpoint/2010/main" val="397483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0" name="Google Shape;1450;p43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451" name="Google Shape;1451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3" name="Google Shape;1453;p43"/>
          <p:cNvGrpSpPr/>
          <p:nvPr/>
        </p:nvGrpSpPr>
        <p:grpSpPr>
          <a:xfrm>
            <a:off x="6172369" y="4495114"/>
            <a:ext cx="76825" cy="76800"/>
            <a:chOff x="3104875" y="1099400"/>
            <a:chExt cx="76825" cy="76800"/>
          </a:xfrm>
        </p:grpSpPr>
        <p:sp>
          <p:nvSpPr>
            <p:cNvPr id="1454" name="Google Shape;1454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3"/>
          <p:cNvGrpSpPr/>
          <p:nvPr/>
        </p:nvGrpSpPr>
        <p:grpSpPr>
          <a:xfrm>
            <a:off x="1506350" y="1719463"/>
            <a:ext cx="76825" cy="76800"/>
            <a:chOff x="3104875" y="1099400"/>
            <a:chExt cx="76825" cy="76800"/>
          </a:xfrm>
        </p:grpSpPr>
        <p:sp>
          <p:nvSpPr>
            <p:cNvPr id="1457" name="Google Shape;1457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59" name="Google Shape;1459;p43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371788" y="1756612"/>
            <a:ext cx="1552574" cy="139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43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511779" y="2063733"/>
            <a:ext cx="903665" cy="8538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6504500-B6D0-0B76-B97F-0DF854F382E4}"/>
              </a:ext>
            </a:extLst>
          </p:cNvPr>
          <p:cNvSpPr txBox="1"/>
          <p:nvPr/>
        </p:nvSpPr>
        <p:spPr>
          <a:xfrm>
            <a:off x="687686" y="353775"/>
            <a:ext cx="731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Grundlagen der Bildverarbeitung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C9206B-8519-AF50-33E2-CD48734F5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390" y="1695485"/>
            <a:ext cx="5391219" cy="1752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Aufnahme von Bildern durch Kameras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Verarbeitung der Bilddaten durch Software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Analyse von Merkmalen wie Form, Farbe oder Struktur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●"/>
            </a:pPr>
            <a:r>
              <a:rPr lang="de-DE" altLang="de-DE" dirty="0">
                <a:solidFill>
                  <a:schemeClr val="tx1"/>
                </a:solidFill>
                <a:latin typeface="Montserrat" panose="00000500000000000000" pitchFamily="2" charset="0"/>
              </a:rPr>
              <a:t>Nutzung zur automatischen Qualitätskontrolle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>
          <a:extLst>
            <a:ext uri="{FF2B5EF4-FFF2-40B4-BE49-F238E27FC236}">
              <a16:creationId xmlns:a16="http://schemas.microsoft.com/office/drawing/2014/main" id="{62D82C7D-19B6-D3DD-FA6C-2EA73ECF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1">
            <a:extLst>
              <a:ext uri="{FF2B5EF4-FFF2-40B4-BE49-F238E27FC236}">
                <a16:creationId xmlns:a16="http://schemas.microsoft.com/office/drawing/2014/main" id="{0E767811-14CB-F83D-6D96-4F7353AC5A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725041" y="3823861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1">
            <a:extLst>
              <a:ext uri="{FF2B5EF4-FFF2-40B4-BE49-F238E27FC236}">
                <a16:creationId xmlns:a16="http://schemas.microsoft.com/office/drawing/2014/main" id="{D5BFA79B-1A08-92F6-2E56-7604699322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2832329">
            <a:off x="8481151" y="-402870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1">
            <a:extLst>
              <a:ext uri="{FF2B5EF4-FFF2-40B4-BE49-F238E27FC236}">
                <a16:creationId xmlns:a16="http://schemas.microsoft.com/office/drawing/2014/main" id="{67F95516-BCCA-1143-4199-9AC77BF788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41">
            <a:extLst>
              <a:ext uri="{FF2B5EF4-FFF2-40B4-BE49-F238E27FC236}">
                <a16:creationId xmlns:a16="http://schemas.microsoft.com/office/drawing/2014/main" id="{FC4BF107-8BC3-F48D-0A73-573C19FAC462}"/>
              </a:ext>
            </a:extLst>
          </p:cNvPr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09" name="Google Shape;1409;p41">
              <a:extLst>
                <a:ext uri="{FF2B5EF4-FFF2-40B4-BE49-F238E27FC236}">
                  <a16:creationId xmlns:a16="http://schemas.microsoft.com/office/drawing/2014/main" id="{6EDB488C-9DF6-B72D-1804-5178AA2A551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>
              <a:extLst>
                <a:ext uri="{FF2B5EF4-FFF2-40B4-BE49-F238E27FC236}">
                  <a16:creationId xmlns:a16="http://schemas.microsoft.com/office/drawing/2014/main" id="{B1D4CF6A-CD13-FF0B-8E92-1A3EED75335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41">
            <a:extLst>
              <a:ext uri="{FF2B5EF4-FFF2-40B4-BE49-F238E27FC236}">
                <a16:creationId xmlns:a16="http://schemas.microsoft.com/office/drawing/2014/main" id="{2C0C2675-1102-04FC-E9AC-19900F318A77}"/>
              </a:ext>
            </a:extLst>
          </p:cNvPr>
          <p:cNvGrpSpPr/>
          <p:nvPr/>
        </p:nvGrpSpPr>
        <p:grpSpPr>
          <a:xfrm>
            <a:off x="3367232" y="1061904"/>
            <a:ext cx="76825" cy="76800"/>
            <a:chOff x="3104875" y="1099400"/>
            <a:chExt cx="76825" cy="76800"/>
          </a:xfrm>
        </p:grpSpPr>
        <p:sp>
          <p:nvSpPr>
            <p:cNvPr id="1412" name="Google Shape;1412;p41">
              <a:extLst>
                <a:ext uri="{FF2B5EF4-FFF2-40B4-BE49-F238E27FC236}">
                  <a16:creationId xmlns:a16="http://schemas.microsoft.com/office/drawing/2014/main" id="{3C41F95A-079F-8881-996F-376E1F2391F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>
              <a:extLst>
                <a:ext uri="{FF2B5EF4-FFF2-40B4-BE49-F238E27FC236}">
                  <a16:creationId xmlns:a16="http://schemas.microsoft.com/office/drawing/2014/main" id="{973CE25B-221E-256B-F1DA-A5D3BDA036A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>
            <a:extLst>
              <a:ext uri="{FF2B5EF4-FFF2-40B4-BE49-F238E27FC236}">
                <a16:creationId xmlns:a16="http://schemas.microsoft.com/office/drawing/2014/main" id="{680BC5B7-46CE-D51A-AF5D-8256226950B8}"/>
              </a:ext>
            </a:extLst>
          </p:cNvPr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5" name="Google Shape;1415;p41">
              <a:extLst>
                <a:ext uri="{FF2B5EF4-FFF2-40B4-BE49-F238E27FC236}">
                  <a16:creationId xmlns:a16="http://schemas.microsoft.com/office/drawing/2014/main" id="{AF1C041A-6CAC-9C91-2D3C-FC5379BF8CF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>
              <a:extLst>
                <a:ext uri="{FF2B5EF4-FFF2-40B4-BE49-F238E27FC236}">
                  <a16:creationId xmlns:a16="http://schemas.microsoft.com/office/drawing/2014/main" id="{7DAD4EA9-A398-74FF-F40E-E23E3553F68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F17D225B-3AAE-7D7B-70E5-56C18AF45965}"/>
              </a:ext>
            </a:extLst>
          </p:cNvPr>
          <p:cNvSpPr txBox="1"/>
          <p:nvPr/>
        </p:nvSpPr>
        <p:spPr>
          <a:xfrm>
            <a:off x="3348336" y="353775"/>
            <a:ext cx="5492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Objekterkennung mit KI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D02DD01-1792-3F25-AD43-94863F0C2EBC}"/>
              </a:ext>
            </a:extLst>
          </p:cNvPr>
          <p:cNvSpPr txBox="1"/>
          <p:nvPr/>
        </p:nvSpPr>
        <p:spPr>
          <a:xfrm>
            <a:off x="3772224" y="1841903"/>
            <a:ext cx="4678362" cy="175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Lokalisierung von Objekten im Bild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Einordnung in verschiedene Klassen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Darstellung durch </a:t>
            </a:r>
            <a:r>
              <a:rPr lang="de-DE" dirty="0" err="1">
                <a:solidFill>
                  <a:schemeClr val="tx1"/>
                </a:solidFill>
                <a:latin typeface="Montserrat" panose="00000500000000000000" pitchFamily="2" charset="0"/>
              </a:rPr>
              <a:t>Bounding</a:t>
            </a: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 Boxes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Anwendung in Industrie, Verkehr, </a:t>
            </a:r>
            <a:r>
              <a:rPr lang="de-DE" dirty="0" err="1">
                <a:solidFill>
                  <a:schemeClr val="tx1"/>
                </a:solidFill>
                <a:latin typeface="Montserrat" panose="00000500000000000000" pitchFamily="2" charset="0"/>
              </a:rPr>
              <a:t>uvm</a:t>
            </a: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F180C0-242A-98D6-26F4-F07E376B7B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559" t="27725" r="38780" b="11341"/>
          <a:stretch>
            <a:fillRect/>
          </a:stretch>
        </p:blipFill>
        <p:spPr>
          <a:xfrm>
            <a:off x="1167685" y="1749531"/>
            <a:ext cx="1937276" cy="193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2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5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Was</a:t>
            </a:r>
            <a:r>
              <a:rPr lang="en" dirty="0"/>
              <a:t> ist ”YOLO”</a:t>
            </a:r>
            <a:endParaRPr dirty="0"/>
          </a:p>
        </p:txBody>
      </p:sp>
      <p:sp>
        <p:nvSpPr>
          <p:cNvPr id="1870" name="Google Shape;1870;p53"/>
          <p:cNvSpPr txBox="1">
            <a:spLocks noGrp="1"/>
          </p:cNvSpPr>
          <p:nvPr>
            <p:ph type="subTitle" idx="1"/>
          </p:nvPr>
        </p:nvSpPr>
        <p:spPr>
          <a:xfrm>
            <a:off x="720000" y="1831821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dirty="0"/>
              <a:t>„</a:t>
            </a:r>
            <a:r>
              <a:rPr lang="de-DE" sz="1800" b="1" dirty="0" err="1"/>
              <a:t>You</a:t>
            </a:r>
            <a:r>
              <a:rPr lang="de-DE" sz="1800" b="1" dirty="0"/>
              <a:t> </a:t>
            </a:r>
            <a:r>
              <a:rPr lang="de-DE" sz="1800" b="1" dirty="0" err="1"/>
              <a:t>Only</a:t>
            </a:r>
            <a:r>
              <a:rPr lang="de-DE" sz="1800" b="1" dirty="0"/>
              <a:t> Look </a:t>
            </a:r>
            <a:r>
              <a:rPr lang="de-DE" sz="1800" b="1" dirty="0" err="1"/>
              <a:t>Once</a:t>
            </a:r>
            <a:r>
              <a:rPr lang="de-DE" sz="1800" b="1" dirty="0"/>
              <a:t>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b="1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Deep-Learning-Verfahren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Objekterkennung in Bilder und Videos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Neuronales Netzwerk lokalisiert und klassifiziert Objekte</a:t>
            </a:r>
            <a:endParaRPr dirty="0"/>
          </a:p>
        </p:txBody>
      </p:sp>
      <p:grpSp>
        <p:nvGrpSpPr>
          <p:cNvPr id="1871" name="Google Shape;1871;p53"/>
          <p:cNvGrpSpPr/>
          <p:nvPr/>
        </p:nvGrpSpPr>
        <p:grpSpPr>
          <a:xfrm>
            <a:off x="1235075" y="4054275"/>
            <a:ext cx="76825" cy="76800"/>
            <a:chOff x="3104875" y="1099400"/>
            <a:chExt cx="76825" cy="76800"/>
          </a:xfrm>
        </p:grpSpPr>
        <p:sp>
          <p:nvSpPr>
            <p:cNvPr id="1872" name="Google Shape;1872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4" name="Google Shape;1874;p53"/>
          <p:cNvGrpSpPr/>
          <p:nvPr/>
        </p:nvGrpSpPr>
        <p:grpSpPr>
          <a:xfrm>
            <a:off x="1714950" y="845800"/>
            <a:ext cx="76825" cy="76800"/>
            <a:chOff x="3104875" y="1099400"/>
            <a:chExt cx="76825" cy="76800"/>
          </a:xfrm>
        </p:grpSpPr>
        <p:sp>
          <p:nvSpPr>
            <p:cNvPr id="1875" name="Google Shape;1875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7" name="Google Shape;1877;p53"/>
          <p:cNvGrpSpPr/>
          <p:nvPr/>
        </p:nvGrpSpPr>
        <p:grpSpPr>
          <a:xfrm>
            <a:off x="5376475" y="3066125"/>
            <a:ext cx="76825" cy="76800"/>
            <a:chOff x="3104875" y="1099400"/>
            <a:chExt cx="76825" cy="76800"/>
          </a:xfrm>
        </p:grpSpPr>
        <p:sp>
          <p:nvSpPr>
            <p:cNvPr id="1878" name="Google Shape;1878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0" name="Google Shape;1880;p53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219637" y="259017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53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8118214" y="2606932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53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6">
            <a:off x="7295204" y="-301639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53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5138385" y="3649387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53"/>
          <p:cNvPicPr preferRelativeResize="0"/>
          <p:nvPr/>
        </p:nvPicPr>
        <p:blipFill rotWithShape="1">
          <a:blip r:embed="rId7">
            <a:alphaModFix/>
          </a:blip>
          <a:srcRect l="25537" t="7152" r="23467" b="5838"/>
          <a:stretch/>
        </p:blipFill>
        <p:spPr>
          <a:xfrm>
            <a:off x="7951823" y="-371878"/>
            <a:ext cx="1671077" cy="16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Ultralytics YOLO26">
            <a:extLst>
              <a:ext uri="{FF2B5EF4-FFF2-40B4-BE49-F238E27FC236}">
                <a16:creationId xmlns:a16="http://schemas.microsoft.com/office/drawing/2014/main" id="{1F6628C7-CF9F-D56B-CAB6-3C608F679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0E10DFC-95BC-C2CC-234F-F5ED26FE48C4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165D15-31AB-04DD-0773-495D9163BAB5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4DFC01B-9973-3EAF-B4BB-F1C3609F1943}"/>
              </a:ext>
            </a:extLst>
          </p:cNvPr>
          <p:cNvSpPr txBox="1"/>
          <p:nvPr/>
        </p:nvSpPr>
        <p:spPr>
          <a:xfrm>
            <a:off x="2331417" y="2534811"/>
            <a:ext cx="4662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5CFE1B4-5AA3-0642-D1BC-2F7B057615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8593" y="1722818"/>
            <a:ext cx="2797436" cy="751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D3D29EF2-3748-A4B2-C1F6-E18C6A28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BCC5AA5D-6869-AF17-11AA-CD6644DA34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702583A1-BF2A-3F68-785D-A82ADAC808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AA3E83D1-F956-2F2C-698A-1EDB16A013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EA0722A1-66D2-D609-CED1-7BD4F43767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1CDD7459-C764-6EAE-C3DF-52062DC5C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302D4A1A-1B95-6C76-EC73-0CAFB3267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499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de-DE" dirty="0"/>
              <a:t>Methodisches Vorgehen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52899B24-6390-F4E0-9F24-03EAAF1ECF93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872C6F5A-BFC6-0636-59ED-8969E0D5B1A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47FF46B8-F42C-BCE6-7ED8-D78AB3E83EB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D5729805-B42F-961F-A61E-60BC01277DF0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F1E180FE-F555-679A-7367-C8E6CFC5882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13AF9FC3-50F8-7076-E94E-FD52DADB15B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EB410B76-D292-68D3-0C07-831F3D60A593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FB37B428-91EF-C962-7142-C7983759168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B746C7A9-3904-4C0C-2808-B0B6CEBBC2B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B87C62C7-2322-08C4-58DE-B7914C14AB3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6F94364-1DA8-8B33-6B67-20A6564FA4C0}"/>
              </a:ext>
            </a:extLst>
          </p:cNvPr>
          <p:cNvSpPr txBox="1"/>
          <p:nvPr/>
        </p:nvSpPr>
        <p:spPr>
          <a:xfrm>
            <a:off x="720000" y="3266264"/>
            <a:ext cx="618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Erläuterung von Aufbau, Training und Funktionsweise des Systems</a:t>
            </a:r>
          </a:p>
        </p:txBody>
      </p:sp>
    </p:spTree>
    <p:extLst>
      <p:ext uri="{BB962C8B-B14F-4D97-AF65-F5344CB8AC3E}">
        <p14:creationId xmlns:p14="http://schemas.microsoft.com/office/powerpoint/2010/main" val="3118407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>
          <a:extLst>
            <a:ext uri="{FF2B5EF4-FFF2-40B4-BE49-F238E27FC236}">
              <a16:creationId xmlns:a16="http://schemas.microsoft.com/office/drawing/2014/main" id="{0D7687EA-637D-7D39-7D0E-5B3E7C97A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42">
            <a:extLst>
              <a:ext uri="{FF2B5EF4-FFF2-40B4-BE49-F238E27FC236}">
                <a16:creationId xmlns:a16="http://schemas.microsoft.com/office/drawing/2014/main" id="{20200191-3B6C-A262-ACD0-9AB72B8E46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>
            <a:extLst>
              <a:ext uri="{FF2B5EF4-FFF2-40B4-BE49-F238E27FC236}">
                <a16:creationId xmlns:a16="http://schemas.microsoft.com/office/drawing/2014/main" id="{083B57EF-ED8A-3ADA-8D58-A53591C504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>
            <a:extLst>
              <a:ext uri="{FF2B5EF4-FFF2-40B4-BE49-F238E27FC236}">
                <a16:creationId xmlns:a16="http://schemas.microsoft.com/office/drawing/2014/main" id="{D07CEC07-7B42-9647-77F4-497EE7EC8BD2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27" name="Google Shape;1427;p42">
              <a:extLst>
                <a:ext uri="{FF2B5EF4-FFF2-40B4-BE49-F238E27FC236}">
                  <a16:creationId xmlns:a16="http://schemas.microsoft.com/office/drawing/2014/main" id="{CFFBCD57-BBE1-5191-7C0A-23807AFEA5A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>
              <a:extLst>
                <a:ext uri="{FF2B5EF4-FFF2-40B4-BE49-F238E27FC236}">
                  <a16:creationId xmlns:a16="http://schemas.microsoft.com/office/drawing/2014/main" id="{46048699-A2BC-0FCB-EF67-78FBBDDB4B0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>
            <a:extLst>
              <a:ext uri="{FF2B5EF4-FFF2-40B4-BE49-F238E27FC236}">
                <a16:creationId xmlns:a16="http://schemas.microsoft.com/office/drawing/2014/main" id="{10F610F7-17F6-FDCB-D275-0262FEBBCB8F}"/>
              </a:ext>
            </a:extLst>
          </p:cNvPr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>
              <a:extLst>
                <a:ext uri="{FF2B5EF4-FFF2-40B4-BE49-F238E27FC236}">
                  <a16:creationId xmlns:a16="http://schemas.microsoft.com/office/drawing/2014/main" id="{44F1BDA0-0E73-92B4-881B-B59979C84C1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>
              <a:extLst>
                <a:ext uri="{FF2B5EF4-FFF2-40B4-BE49-F238E27FC236}">
                  <a16:creationId xmlns:a16="http://schemas.microsoft.com/office/drawing/2014/main" id="{138196D1-71C4-A629-54EC-EC332C1B724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>
            <a:extLst>
              <a:ext uri="{FF2B5EF4-FFF2-40B4-BE49-F238E27FC236}">
                <a16:creationId xmlns:a16="http://schemas.microsoft.com/office/drawing/2014/main" id="{EF1358EA-FF4C-599E-BD80-4908B2D9C5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>
            <a:extLst>
              <a:ext uri="{FF2B5EF4-FFF2-40B4-BE49-F238E27FC236}">
                <a16:creationId xmlns:a16="http://schemas.microsoft.com/office/drawing/2014/main" id="{BCA72965-257F-F756-801F-8AAE37493CEC}"/>
              </a:ext>
            </a:extLst>
          </p:cNvPr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>
              <a:extLst>
                <a:ext uri="{FF2B5EF4-FFF2-40B4-BE49-F238E27FC236}">
                  <a16:creationId xmlns:a16="http://schemas.microsoft.com/office/drawing/2014/main" id="{D569116C-F27D-07A0-D273-C6D0F03B928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>
              <a:extLst>
                <a:ext uri="{FF2B5EF4-FFF2-40B4-BE49-F238E27FC236}">
                  <a16:creationId xmlns:a16="http://schemas.microsoft.com/office/drawing/2014/main" id="{E7138AE7-E578-D148-EAF1-93A481D148E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>
            <a:extLst>
              <a:ext uri="{FF2B5EF4-FFF2-40B4-BE49-F238E27FC236}">
                <a16:creationId xmlns:a16="http://schemas.microsoft.com/office/drawing/2014/main" id="{7C8AD2EE-DBD9-FDF6-B27F-3D0D33F22E96}"/>
              </a:ext>
            </a:extLst>
          </p:cNvPr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>
              <a:extLst>
                <a:ext uri="{FF2B5EF4-FFF2-40B4-BE49-F238E27FC236}">
                  <a16:creationId xmlns:a16="http://schemas.microsoft.com/office/drawing/2014/main" id="{EED9E804-22BA-56CC-340C-5CB4625DE80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>
              <a:extLst>
                <a:ext uri="{FF2B5EF4-FFF2-40B4-BE49-F238E27FC236}">
                  <a16:creationId xmlns:a16="http://schemas.microsoft.com/office/drawing/2014/main" id="{3D2FA87F-4BD5-960F-68E0-AEE7718A8B9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6BED09B8-8950-B20E-B682-DE4F7A482353}"/>
              </a:ext>
            </a:extLst>
          </p:cNvPr>
          <p:cNvSpPr txBox="1"/>
          <p:nvPr/>
        </p:nvSpPr>
        <p:spPr>
          <a:xfrm>
            <a:off x="687686" y="3537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Hardware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073E5D-AB17-40AE-6CB9-3C88EB7AF149}"/>
              </a:ext>
            </a:extLst>
          </p:cNvPr>
          <p:cNvSpPr txBox="1"/>
          <p:nvPr/>
        </p:nvSpPr>
        <p:spPr>
          <a:xfrm>
            <a:off x="3710854" y="1574297"/>
            <a:ext cx="4966855" cy="1752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Erstellt in SolidWorks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Mit „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Acrylnitirl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-Butadien-Styrol“ gedruckt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physische Basis des Projekts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Kameras, Beleuchtung</a:t>
            </a:r>
          </a:p>
        </p:txBody>
      </p:sp>
    </p:spTree>
    <p:extLst>
      <p:ext uri="{BB962C8B-B14F-4D97-AF65-F5344CB8AC3E}">
        <p14:creationId xmlns:p14="http://schemas.microsoft.com/office/powerpoint/2010/main" val="1699852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>
          <a:extLst>
            <a:ext uri="{FF2B5EF4-FFF2-40B4-BE49-F238E27FC236}">
              <a16:creationId xmlns:a16="http://schemas.microsoft.com/office/drawing/2014/main" id="{AEAF8D08-E032-6F34-464C-642834B1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>
            <a:extLst>
              <a:ext uri="{FF2B5EF4-FFF2-40B4-BE49-F238E27FC236}">
                <a16:creationId xmlns:a16="http://schemas.microsoft.com/office/drawing/2014/main" id="{09A638BA-BD46-9D64-2257-AC3B32C335BA}"/>
              </a:ext>
            </a:extLst>
          </p:cNvPr>
          <p:cNvGrpSpPr/>
          <p:nvPr/>
        </p:nvGrpSpPr>
        <p:grpSpPr>
          <a:xfrm>
            <a:off x="387077" y="4540331"/>
            <a:ext cx="76825" cy="76800"/>
            <a:chOff x="3104875" y="1099400"/>
            <a:chExt cx="76825" cy="76800"/>
          </a:xfrm>
        </p:grpSpPr>
        <p:sp>
          <p:nvSpPr>
            <p:cNvPr id="1622" name="Google Shape;1622;p47">
              <a:extLst>
                <a:ext uri="{FF2B5EF4-FFF2-40B4-BE49-F238E27FC236}">
                  <a16:creationId xmlns:a16="http://schemas.microsoft.com/office/drawing/2014/main" id="{5A80BC4F-8151-9670-AF6A-25CB2381C5E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>
              <a:extLst>
                <a:ext uri="{FF2B5EF4-FFF2-40B4-BE49-F238E27FC236}">
                  <a16:creationId xmlns:a16="http://schemas.microsoft.com/office/drawing/2014/main" id="{DA688980-C142-219B-8F0A-9667EDEBEFD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B3D62E83-F7B4-BD24-09E7-FDA2DD481BCB}"/>
              </a:ext>
            </a:extLst>
          </p:cNvPr>
          <p:cNvGrpSpPr/>
          <p:nvPr/>
        </p:nvGrpSpPr>
        <p:grpSpPr>
          <a:xfrm>
            <a:off x="6552440" y="674714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0B5FA23C-1294-1561-D795-243A79D9CE5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16533277-E920-6571-8567-DEFBF87A80E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DC52C26E-6D9F-41D4-637B-BF50D986A45C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A644F016-356E-29B6-7FB0-E047AC6792A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CFD261C7-E2F0-3314-8184-D4A43EB8C80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>
            <a:extLst>
              <a:ext uri="{FF2B5EF4-FFF2-40B4-BE49-F238E27FC236}">
                <a16:creationId xmlns:a16="http://schemas.microsoft.com/office/drawing/2014/main" id="{75BBB26C-868C-BCFD-C0CC-6E30DB826A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286027" y="-18223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>
            <a:extLst>
              <a:ext uri="{FF2B5EF4-FFF2-40B4-BE49-F238E27FC236}">
                <a16:creationId xmlns:a16="http://schemas.microsoft.com/office/drawing/2014/main" id="{2EC511FD-0789-71EF-ED56-E9DE68E0E7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977076" y="367631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>
            <a:extLst>
              <a:ext uri="{FF2B5EF4-FFF2-40B4-BE49-F238E27FC236}">
                <a16:creationId xmlns:a16="http://schemas.microsoft.com/office/drawing/2014/main" id="{D2B9A14A-C06F-FB63-88FB-1A9EE07F6F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129656" y="416063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9ECD3E61-4819-22B6-6C8A-D3C647AD4DA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882F6A0-0A27-D285-40CA-E556C48514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571" b="90639" l="9940" r="89927">
                        <a14:foregroundMark x1="50634" y1="10711" x2="50634" y2="10711"/>
                        <a14:foregroundMark x1="49033" y1="6571" x2="49033" y2="6571"/>
                        <a14:foregroundMark x1="48899" y1="90639" x2="48899" y2="906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489" y="464127"/>
            <a:ext cx="5238723" cy="3882736"/>
          </a:xfrm>
          <a:prstGeom prst="rect">
            <a:avLst/>
          </a:prstGeom>
        </p:spPr>
      </p:pic>
      <p:grpSp>
        <p:nvGrpSpPr>
          <p:cNvPr id="5" name="Google Shape;1621;p47">
            <a:extLst>
              <a:ext uri="{FF2B5EF4-FFF2-40B4-BE49-F238E27FC236}">
                <a16:creationId xmlns:a16="http://schemas.microsoft.com/office/drawing/2014/main" id="{17E4E650-2A4D-EC16-4F4C-1402C9E5CE4B}"/>
              </a:ext>
            </a:extLst>
          </p:cNvPr>
          <p:cNvGrpSpPr/>
          <p:nvPr/>
        </p:nvGrpSpPr>
        <p:grpSpPr>
          <a:xfrm>
            <a:off x="387077" y="784950"/>
            <a:ext cx="76825" cy="76800"/>
            <a:chOff x="3104875" y="1099400"/>
            <a:chExt cx="76825" cy="76800"/>
          </a:xfrm>
        </p:grpSpPr>
        <p:sp>
          <p:nvSpPr>
            <p:cNvPr id="6" name="Google Shape;1622;p47">
              <a:extLst>
                <a:ext uri="{FF2B5EF4-FFF2-40B4-BE49-F238E27FC236}">
                  <a16:creationId xmlns:a16="http://schemas.microsoft.com/office/drawing/2014/main" id="{FCAE1F84-BCFF-4707-8C56-3AA4023FBFB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23;p47">
              <a:extLst>
                <a:ext uri="{FF2B5EF4-FFF2-40B4-BE49-F238E27FC236}">
                  <a16:creationId xmlns:a16="http://schemas.microsoft.com/office/drawing/2014/main" id="{EAB1BB30-4A9E-5630-64C2-C12A81F1994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621;p47">
            <a:extLst>
              <a:ext uri="{FF2B5EF4-FFF2-40B4-BE49-F238E27FC236}">
                <a16:creationId xmlns:a16="http://schemas.microsoft.com/office/drawing/2014/main" id="{2C70FF66-5789-38C4-C477-2E6B13E54FD9}"/>
              </a:ext>
            </a:extLst>
          </p:cNvPr>
          <p:cNvGrpSpPr/>
          <p:nvPr/>
        </p:nvGrpSpPr>
        <p:grpSpPr>
          <a:xfrm>
            <a:off x="844277" y="425727"/>
            <a:ext cx="76825" cy="76800"/>
            <a:chOff x="3104875" y="1099400"/>
            <a:chExt cx="76825" cy="76800"/>
          </a:xfrm>
        </p:grpSpPr>
        <p:sp>
          <p:nvSpPr>
            <p:cNvPr id="9" name="Google Shape;1622;p47">
              <a:extLst>
                <a:ext uri="{FF2B5EF4-FFF2-40B4-BE49-F238E27FC236}">
                  <a16:creationId xmlns:a16="http://schemas.microsoft.com/office/drawing/2014/main" id="{42C7B92E-9ECE-6A27-23FF-BA3C48A6356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3;p47">
              <a:extLst>
                <a:ext uri="{FF2B5EF4-FFF2-40B4-BE49-F238E27FC236}">
                  <a16:creationId xmlns:a16="http://schemas.microsoft.com/office/drawing/2014/main" id="{82BDB457-6670-98AC-960C-6964C8BBC7D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E41B462B-C06F-0696-275E-10375D235B06}"/>
              </a:ext>
            </a:extLst>
          </p:cNvPr>
          <p:cNvSpPr txBox="1"/>
          <p:nvPr/>
        </p:nvSpPr>
        <p:spPr>
          <a:xfrm>
            <a:off x="5175894" y="1892790"/>
            <a:ext cx="2937164" cy="102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Besteht aus: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4 Höhenverstellbare Beine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U-Stück</a:t>
            </a:r>
          </a:p>
        </p:txBody>
      </p:sp>
    </p:spTree>
    <p:extLst>
      <p:ext uri="{BB962C8B-B14F-4D97-AF65-F5344CB8AC3E}">
        <p14:creationId xmlns:p14="http://schemas.microsoft.com/office/powerpoint/2010/main" val="1684441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CB0AB16-2F3A-F1B2-7B3F-B1B6ED883B41}"/>
              </a:ext>
            </a:extLst>
          </p:cNvPr>
          <p:cNvSpPr txBox="1"/>
          <p:nvPr/>
        </p:nvSpPr>
        <p:spPr>
          <a:xfrm>
            <a:off x="3710854" y="1574297"/>
            <a:ext cx="4966855" cy="1994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Schnittstellen zu Kameras /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Programmiersprache: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Phython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,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OpenCV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, 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PyTorch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Benutzeroberfläche / Visualisierung der Ergebnisse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Automatisierte Klassifizierung von Fehlerarten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</p:txBody>
      </p:sp>
      <p:pic>
        <p:nvPicPr>
          <p:cNvPr id="1424" name="Google Shape;1424;p42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/>
          <p:cNvGrpSpPr/>
          <p:nvPr/>
        </p:nvGrpSpPr>
        <p:grpSpPr>
          <a:xfrm>
            <a:off x="8677709" y="1667106"/>
            <a:ext cx="76825" cy="76800"/>
            <a:chOff x="3104875" y="1099400"/>
            <a:chExt cx="76825" cy="76800"/>
          </a:xfrm>
        </p:grpSpPr>
        <p:sp>
          <p:nvSpPr>
            <p:cNvPr id="1427" name="Google Shape;142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/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/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/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760C905B-C215-83B8-D892-03E8B653137C}"/>
              </a:ext>
            </a:extLst>
          </p:cNvPr>
          <p:cNvSpPr txBox="1"/>
          <p:nvPr/>
        </p:nvSpPr>
        <p:spPr>
          <a:xfrm>
            <a:off x="687686" y="3537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/>
          <p:cNvGrpSpPr/>
          <p:nvPr/>
        </p:nvGrpSpPr>
        <p:grpSpPr>
          <a:xfrm>
            <a:off x="617649" y="2100029"/>
            <a:ext cx="76825" cy="76800"/>
            <a:chOff x="3104875" y="1099400"/>
            <a:chExt cx="76825" cy="76800"/>
          </a:xfrm>
        </p:grpSpPr>
        <p:sp>
          <p:nvSpPr>
            <p:cNvPr id="1622" name="Google Shape;1622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/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5" name="Google Shape;1625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/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04230" y="416063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84C1360A-C59F-C523-608E-3EC71EB7F728}"/>
              </a:ext>
            </a:extLst>
          </p:cNvPr>
          <p:cNvSpPr txBox="1"/>
          <p:nvPr/>
        </p:nvSpPr>
        <p:spPr>
          <a:xfrm>
            <a:off x="656062" y="3537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Training des Modells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E0664B54-48D3-D48F-1813-5C08F30216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1458" y="1368095"/>
            <a:ext cx="4765280" cy="2559040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6B59EAB9-6019-6750-CE82-23A57FE2583E}"/>
              </a:ext>
            </a:extLst>
          </p:cNvPr>
          <p:cNvSpPr txBox="1"/>
          <p:nvPr/>
        </p:nvSpPr>
        <p:spPr>
          <a:xfrm>
            <a:off x="694474" y="1368095"/>
            <a:ext cx="300990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„</a:t>
            </a:r>
            <a:r>
              <a:rPr lang="de-DE" dirty="0" err="1">
                <a:solidFill>
                  <a:schemeClr val="accent6"/>
                </a:solidFill>
              </a:rPr>
              <a:t>Labellmg</a:t>
            </a:r>
            <a:r>
              <a:rPr lang="de-DE" dirty="0">
                <a:solidFill>
                  <a:schemeClr val="accent6"/>
                </a:solidFill>
              </a:rPr>
              <a:t>“ zur </a:t>
            </a:r>
            <a:r>
              <a:rPr lang="de-DE" dirty="0" err="1">
                <a:solidFill>
                  <a:schemeClr val="accent6"/>
                </a:solidFill>
              </a:rPr>
              <a:t>Annotierung</a:t>
            </a:r>
            <a:endParaRPr lang="de-DE" dirty="0">
              <a:solidFill>
                <a:schemeClr val="accent6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Box um Fehler ziehen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</a:rPr>
              <a:t>Datenbank/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├── </a:t>
            </a:r>
            <a:r>
              <a:rPr lang="de-DE" dirty="0" err="1">
                <a:solidFill>
                  <a:schemeClr val="accent6"/>
                </a:solidFill>
              </a:rPr>
              <a:t>images</a:t>
            </a:r>
            <a:r>
              <a:rPr lang="de-DE" dirty="0">
                <a:solidFill>
                  <a:schemeClr val="accent6"/>
                </a:solidFill>
              </a:rPr>
              <a:t>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│ 	├── </a:t>
            </a:r>
            <a:r>
              <a:rPr lang="de-DE" dirty="0" err="1">
                <a:solidFill>
                  <a:schemeClr val="accent6"/>
                </a:solidFill>
              </a:rPr>
              <a:t>train</a:t>
            </a:r>
            <a:r>
              <a:rPr lang="de-DE" dirty="0">
                <a:solidFill>
                  <a:schemeClr val="accent6"/>
                </a:solidFill>
              </a:rPr>
              <a:t>/ (70%)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│	└── </a:t>
            </a:r>
            <a:r>
              <a:rPr lang="de-DE" dirty="0" err="1">
                <a:solidFill>
                  <a:schemeClr val="accent6"/>
                </a:solidFill>
              </a:rPr>
              <a:t>val</a:t>
            </a:r>
            <a:r>
              <a:rPr lang="de-DE" dirty="0">
                <a:solidFill>
                  <a:schemeClr val="accent6"/>
                </a:solidFill>
              </a:rPr>
              <a:t>/ (30%)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└── </a:t>
            </a:r>
            <a:r>
              <a:rPr lang="de-DE" dirty="0" err="1">
                <a:solidFill>
                  <a:schemeClr val="accent6"/>
                </a:solidFill>
              </a:rPr>
              <a:t>labels</a:t>
            </a:r>
            <a:r>
              <a:rPr lang="de-DE" dirty="0">
                <a:solidFill>
                  <a:schemeClr val="accent6"/>
                </a:solidFill>
              </a:rPr>
              <a:t>/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	├── </a:t>
            </a:r>
            <a:r>
              <a:rPr lang="de-DE" dirty="0" err="1">
                <a:solidFill>
                  <a:schemeClr val="accent6"/>
                </a:solidFill>
              </a:rPr>
              <a:t>train</a:t>
            </a:r>
            <a:r>
              <a:rPr lang="de-DE" dirty="0">
                <a:solidFill>
                  <a:schemeClr val="accent6"/>
                </a:solidFill>
              </a:rPr>
              <a:t>/ (70%)</a:t>
            </a:r>
            <a:br>
              <a:rPr lang="de-DE" dirty="0">
                <a:solidFill>
                  <a:schemeClr val="accent6"/>
                </a:solidFill>
              </a:rPr>
            </a:br>
            <a:r>
              <a:rPr lang="de-DE" dirty="0">
                <a:solidFill>
                  <a:schemeClr val="accent6"/>
                </a:solidFill>
              </a:rPr>
              <a:t>	└── </a:t>
            </a:r>
            <a:r>
              <a:rPr lang="de-DE" dirty="0" err="1">
                <a:solidFill>
                  <a:schemeClr val="accent6"/>
                </a:solidFill>
              </a:rPr>
              <a:t>val</a:t>
            </a:r>
            <a:r>
              <a:rPr lang="de-DE" dirty="0">
                <a:solidFill>
                  <a:schemeClr val="accent6"/>
                </a:solidFill>
              </a:rPr>
              <a:t>/ (30%)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7575A85-527E-50D2-B282-D0B5FF9A9C9B}"/>
              </a:ext>
            </a:extLst>
          </p:cNvPr>
          <p:cNvSpPr txBox="1"/>
          <p:nvPr/>
        </p:nvSpPr>
        <p:spPr>
          <a:xfrm>
            <a:off x="5098473" y="348095"/>
            <a:ext cx="3664527" cy="134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Automatische Verteilung von rund 2.000 Bild- und Textdateien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70% nach „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train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30% nach „</a:t>
            </a:r>
            <a:r>
              <a:rPr lang="de-DE" dirty="0" err="1">
                <a:solidFill>
                  <a:schemeClr val="accent6"/>
                </a:solidFill>
                <a:latin typeface="Montserrat" panose="00000500000000000000" pitchFamily="2" charset="0"/>
              </a:rPr>
              <a:t>val</a:t>
            </a: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“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B221E7B-694A-B54C-E095-39956F481C76}"/>
              </a:ext>
            </a:extLst>
          </p:cNvPr>
          <p:cNvGrpSpPr/>
          <p:nvPr/>
        </p:nvGrpSpPr>
        <p:grpSpPr>
          <a:xfrm>
            <a:off x="505421" y="194207"/>
            <a:ext cx="4353740" cy="4755086"/>
            <a:chOff x="505421" y="178863"/>
            <a:chExt cx="4353740" cy="4755086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BCFF0030-97B4-45DC-65D8-DB206D4ED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21" y="486640"/>
              <a:ext cx="4353740" cy="444730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905D86B5-17BF-18A9-EEFA-3C49328744CD}"/>
                </a:ext>
              </a:extLst>
            </p:cNvPr>
            <p:cNvSpPr txBox="1"/>
            <p:nvPr/>
          </p:nvSpPr>
          <p:spPr>
            <a:xfrm>
              <a:off x="505421" y="178863"/>
              <a:ext cx="4353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sort.py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>
          <a:extLst>
            <a:ext uri="{FF2B5EF4-FFF2-40B4-BE49-F238E27FC236}">
              <a16:creationId xmlns:a16="http://schemas.microsoft.com/office/drawing/2014/main" id="{AA278438-A37E-7732-4B81-E8422583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>
            <a:extLst>
              <a:ext uri="{FF2B5EF4-FFF2-40B4-BE49-F238E27FC236}">
                <a16:creationId xmlns:a16="http://schemas.microsoft.com/office/drawing/2014/main" id="{9EFF83FA-F9E8-B556-CB78-9A0CD564E4CC}"/>
              </a:ext>
            </a:extLst>
          </p:cNvPr>
          <p:cNvGrpSpPr/>
          <p:nvPr/>
        </p:nvGrpSpPr>
        <p:grpSpPr>
          <a:xfrm>
            <a:off x="795651" y="2767755"/>
            <a:ext cx="76825" cy="76800"/>
            <a:chOff x="3104875" y="1099400"/>
            <a:chExt cx="76825" cy="76800"/>
          </a:xfrm>
        </p:grpSpPr>
        <p:sp>
          <p:nvSpPr>
            <p:cNvPr id="1582" name="Google Shape;1582;p45">
              <a:extLst>
                <a:ext uri="{FF2B5EF4-FFF2-40B4-BE49-F238E27FC236}">
                  <a16:creationId xmlns:a16="http://schemas.microsoft.com/office/drawing/2014/main" id="{03312B03-1173-268A-F061-75562784550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>
              <a:extLst>
                <a:ext uri="{FF2B5EF4-FFF2-40B4-BE49-F238E27FC236}">
                  <a16:creationId xmlns:a16="http://schemas.microsoft.com/office/drawing/2014/main" id="{D28981F5-9AFA-9AB6-5D2A-288C2DC8BDA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>
            <a:extLst>
              <a:ext uri="{FF2B5EF4-FFF2-40B4-BE49-F238E27FC236}">
                <a16:creationId xmlns:a16="http://schemas.microsoft.com/office/drawing/2014/main" id="{5AD250FA-F697-5801-D4E8-EA9097784F69}"/>
              </a:ext>
            </a:extLst>
          </p:cNvPr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1585" name="Google Shape;1585;p45">
              <a:extLst>
                <a:ext uri="{FF2B5EF4-FFF2-40B4-BE49-F238E27FC236}">
                  <a16:creationId xmlns:a16="http://schemas.microsoft.com/office/drawing/2014/main" id="{03A03889-62B8-17AC-E11A-6E5D837199F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>
              <a:extLst>
                <a:ext uri="{FF2B5EF4-FFF2-40B4-BE49-F238E27FC236}">
                  <a16:creationId xmlns:a16="http://schemas.microsoft.com/office/drawing/2014/main" id="{0612DE48-A140-3C5C-0CB3-ED8CD0F2463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>
            <a:extLst>
              <a:ext uri="{FF2B5EF4-FFF2-40B4-BE49-F238E27FC236}">
                <a16:creationId xmlns:a16="http://schemas.microsoft.com/office/drawing/2014/main" id="{0C633E77-B5DE-8EA2-4BA3-1A1FB3576AC9}"/>
              </a:ext>
            </a:extLst>
          </p:cNvPr>
          <p:cNvGrpSpPr/>
          <p:nvPr/>
        </p:nvGrpSpPr>
        <p:grpSpPr>
          <a:xfrm>
            <a:off x="6180225" y="982400"/>
            <a:ext cx="76825" cy="76800"/>
            <a:chOff x="3104875" y="1099400"/>
            <a:chExt cx="76825" cy="76800"/>
          </a:xfrm>
        </p:grpSpPr>
        <p:sp>
          <p:nvSpPr>
            <p:cNvPr id="1588" name="Google Shape;1588;p45">
              <a:extLst>
                <a:ext uri="{FF2B5EF4-FFF2-40B4-BE49-F238E27FC236}">
                  <a16:creationId xmlns:a16="http://schemas.microsoft.com/office/drawing/2014/main" id="{E64C0C5E-ED78-21C2-C030-5EABF24C47F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>
              <a:extLst>
                <a:ext uri="{FF2B5EF4-FFF2-40B4-BE49-F238E27FC236}">
                  <a16:creationId xmlns:a16="http://schemas.microsoft.com/office/drawing/2014/main" id="{7CDFFEEA-2300-D0F9-0D4F-8285D4A4262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>
            <a:extLst>
              <a:ext uri="{FF2B5EF4-FFF2-40B4-BE49-F238E27FC236}">
                <a16:creationId xmlns:a16="http://schemas.microsoft.com/office/drawing/2014/main" id="{4ABE81FA-0C78-9D2A-1257-AE90A3BAAB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484159" y="493439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>
            <a:extLst>
              <a:ext uri="{FF2B5EF4-FFF2-40B4-BE49-F238E27FC236}">
                <a16:creationId xmlns:a16="http://schemas.microsoft.com/office/drawing/2014/main" id="{84965045-BD10-80D4-F11D-23DE208102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849112" y="209824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A50A075-F575-88B6-0555-348D0BC208F0}"/>
              </a:ext>
            </a:extLst>
          </p:cNvPr>
          <p:cNvGrpSpPr/>
          <p:nvPr/>
        </p:nvGrpSpPr>
        <p:grpSpPr>
          <a:xfrm>
            <a:off x="1250141" y="1168330"/>
            <a:ext cx="3944179" cy="948456"/>
            <a:chOff x="752511" y="477056"/>
            <a:chExt cx="3944179" cy="948456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726F730B-4767-1714-04B1-456C2BDDF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2513" y="784833"/>
              <a:ext cx="3944177" cy="640679"/>
            </a:xfrm>
            <a:prstGeom prst="rect">
              <a:avLst/>
            </a:prstGeom>
          </p:spPr>
        </p:pic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0DD3B7B-735C-2252-67D2-58067D64F0F7}"/>
                </a:ext>
              </a:extLst>
            </p:cNvPr>
            <p:cNvSpPr txBox="1"/>
            <p:nvPr/>
          </p:nvSpPr>
          <p:spPr>
            <a:xfrm>
              <a:off x="752511" y="477056"/>
              <a:ext cx="3944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>
                  <a:solidFill>
                    <a:schemeClr val="accent6"/>
                  </a:solidFill>
                  <a:latin typeface="Montserrat" panose="00000500000000000000" pitchFamily="2" charset="0"/>
                </a:rPr>
                <a:t>data.yaml</a:t>
              </a:r>
              <a:endParaRPr lang="de-DE" dirty="0">
                <a:solidFill>
                  <a:schemeClr val="accent6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E140501-197A-8126-A0BB-F7031E777BB1}"/>
              </a:ext>
            </a:extLst>
          </p:cNvPr>
          <p:cNvGrpSpPr/>
          <p:nvPr/>
        </p:nvGrpSpPr>
        <p:grpSpPr>
          <a:xfrm>
            <a:off x="3566909" y="2718937"/>
            <a:ext cx="3944177" cy="1838537"/>
            <a:chOff x="1632275" y="2596740"/>
            <a:chExt cx="3944177" cy="1838537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947218BD-5515-A72F-2972-0182FE2F3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2275" y="2904517"/>
              <a:ext cx="3944177" cy="153076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8EB862F-1734-327D-8272-2B415BC705E7}"/>
                </a:ext>
              </a:extLst>
            </p:cNvPr>
            <p:cNvSpPr txBox="1"/>
            <p:nvPr/>
          </p:nvSpPr>
          <p:spPr>
            <a:xfrm>
              <a:off x="1632275" y="2596740"/>
              <a:ext cx="39441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train_model.py</a:t>
              </a:r>
            </a:p>
          </p:txBody>
        </p:sp>
      </p:grpSp>
      <p:pic>
        <p:nvPicPr>
          <p:cNvPr id="19" name="Google Shape;1591;p45">
            <a:extLst>
              <a:ext uri="{FF2B5EF4-FFF2-40B4-BE49-F238E27FC236}">
                <a16:creationId xmlns:a16="http://schemas.microsoft.com/office/drawing/2014/main" id="{021767AF-81B9-4C0B-C871-F5E99C2ABA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-666979" y="4019537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1581;p45">
            <a:extLst>
              <a:ext uri="{FF2B5EF4-FFF2-40B4-BE49-F238E27FC236}">
                <a16:creationId xmlns:a16="http://schemas.microsoft.com/office/drawing/2014/main" id="{17B43204-E656-E2B2-E182-7D98B79DB413}"/>
              </a:ext>
            </a:extLst>
          </p:cNvPr>
          <p:cNvGrpSpPr/>
          <p:nvPr/>
        </p:nvGrpSpPr>
        <p:grpSpPr>
          <a:xfrm>
            <a:off x="1080525" y="3212645"/>
            <a:ext cx="76825" cy="76800"/>
            <a:chOff x="3104875" y="1099400"/>
            <a:chExt cx="76825" cy="76800"/>
          </a:xfrm>
        </p:grpSpPr>
        <p:sp>
          <p:nvSpPr>
            <p:cNvPr id="21" name="Google Shape;1582;p45">
              <a:extLst>
                <a:ext uri="{FF2B5EF4-FFF2-40B4-BE49-F238E27FC236}">
                  <a16:creationId xmlns:a16="http://schemas.microsoft.com/office/drawing/2014/main" id="{84DA5C4F-E322-E138-75D2-E631D3F5E57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83;p45">
              <a:extLst>
                <a:ext uri="{FF2B5EF4-FFF2-40B4-BE49-F238E27FC236}">
                  <a16:creationId xmlns:a16="http://schemas.microsoft.com/office/drawing/2014/main" id="{3BE4E351-1BB5-AB7B-34D9-E65BB0DE444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6261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/>
          <p:cNvGrpSpPr/>
          <p:nvPr/>
        </p:nvGrpSpPr>
        <p:grpSpPr>
          <a:xfrm>
            <a:off x="319869" y="3630327"/>
            <a:ext cx="76825" cy="76800"/>
            <a:chOff x="3104875" y="1099400"/>
            <a:chExt cx="76825" cy="76800"/>
          </a:xfrm>
        </p:grpSpPr>
        <p:sp>
          <p:nvSpPr>
            <p:cNvPr id="1582" name="Google Shape;1582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/>
          <p:cNvGrpSpPr/>
          <p:nvPr/>
        </p:nvGrpSpPr>
        <p:grpSpPr>
          <a:xfrm>
            <a:off x="8612874" y="1777376"/>
            <a:ext cx="76825" cy="76800"/>
            <a:chOff x="3104875" y="1099400"/>
            <a:chExt cx="76825" cy="76800"/>
          </a:xfrm>
        </p:grpSpPr>
        <p:sp>
          <p:nvSpPr>
            <p:cNvPr id="1585" name="Google Shape;1585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/>
          <p:cNvGrpSpPr/>
          <p:nvPr/>
        </p:nvGrpSpPr>
        <p:grpSpPr>
          <a:xfrm>
            <a:off x="6488733" y="448066"/>
            <a:ext cx="76825" cy="76800"/>
            <a:chOff x="3104875" y="1099400"/>
            <a:chExt cx="76825" cy="76800"/>
          </a:xfrm>
        </p:grpSpPr>
        <p:sp>
          <p:nvSpPr>
            <p:cNvPr id="1588" name="Google Shape;1588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-54724" y="1913437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932728" y="-217150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D15FC797-054B-53F2-8E17-7514D385BF3F}"/>
              </a:ext>
            </a:extLst>
          </p:cNvPr>
          <p:cNvGrpSpPr/>
          <p:nvPr/>
        </p:nvGrpSpPr>
        <p:grpSpPr>
          <a:xfrm>
            <a:off x="533537" y="140289"/>
            <a:ext cx="4681997" cy="4862922"/>
            <a:chOff x="533537" y="170204"/>
            <a:chExt cx="4681997" cy="4862922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0E033ECD-A354-A70A-8752-21133FF82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537" y="477981"/>
              <a:ext cx="4681997" cy="4555145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03E9C3E2-6024-0F8D-40D9-4C372020FD15}"/>
                </a:ext>
              </a:extLst>
            </p:cNvPr>
            <p:cNvSpPr txBox="1"/>
            <p:nvPr/>
          </p:nvSpPr>
          <p:spPr>
            <a:xfrm>
              <a:off x="533537" y="170204"/>
              <a:ext cx="4681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accent6"/>
                  </a:solidFill>
                  <a:latin typeface="Montserrat" panose="00000500000000000000" pitchFamily="2" charset="0"/>
                </a:rPr>
                <a:t>main.py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216FD9EC-CF9A-8267-4521-934BD89B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83AE28E0-A09C-A243-2C6D-C5608B4BAE7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1496250"/>
            <a:ext cx="149186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E2D00FE1-605D-A487-7C73-4CE59133EA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4B3B6DC4-7AC4-3B53-C5E7-9C26BA35E8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8A0C98EE-F9C6-2480-8CDA-DD0397C98F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A974391F-1C94-7E63-6FC3-E6D2987D7B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72759633-BF62-1404-6155-44A4FFC9D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de-DE" dirty="0"/>
              <a:t>Probleme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36E20493-BF1A-B158-F852-56680712DE4A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D630935C-1AC1-1D75-F691-A19FA222519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A3E55B39-4777-E054-ADEE-5293C474B3B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3A048147-371B-3DF3-BADB-0C087DBF2CC5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5D260202-2F3D-2F72-7273-6082D4F083F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D528FF64-F1B1-4C46-FFA9-1E5EEEB4BC3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EA3CE312-DE1C-B23B-1AAC-B864382AB370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CF43CFFC-642B-BBCA-24FF-E63060B79F1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F56C1ABF-E061-C6C2-D095-06C813D00C4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38BE0894-CBC7-C48E-1C38-5BA50E39001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A9B904C-4119-D12A-57EC-116D17BC78E5}"/>
              </a:ext>
            </a:extLst>
          </p:cNvPr>
          <p:cNvSpPr txBox="1"/>
          <p:nvPr/>
        </p:nvSpPr>
        <p:spPr>
          <a:xfrm>
            <a:off x="720000" y="3266264"/>
            <a:ext cx="5795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Inwieweit eignet sich ein mobiles Bildverarbeitungssystem zur automatisierten Fehlererkennung in der Produktion?</a:t>
            </a:r>
          </a:p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6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>
          <a:extLst>
            <a:ext uri="{FF2B5EF4-FFF2-40B4-BE49-F238E27FC236}">
              <a16:creationId xmlns:a16="http://schemas.microsoft.com/office/drawing/2014/main" id="{76733148-6F50-9233-D92E-BDCE5264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42">
            <a:extLst>
              <a:ext uri="{FF2B5EF4-FFF2-40B4-BE49-F238E27FC236}">
                <a16:creationId xmlns:a16="http://schemas.microsoft.com/office/drawing/2014/main" id="{B4AA8034-1875-58F7-86B6-822F7464B4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1353599" y="158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42">
            <a:extLst>
              <a:ext uri="{FF2B5EF4-FFF2-40B4-BE49-F238E27FC236}">
                <a16:creationId xmlns:a16="http://schemas.microsoft.com/office/drawing/2014/main" id="{67FE9B1B-BC3E-2BE5-9C11-89BC25A45B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1358193">
            <a:off x="674149" y="1062985"/>
            <a:ext cx="1552576" cy="13908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42">
            <a:extLst>
              <a:ext uri="{FF2B5EF4-FFF2-40B4-BE49-F238E27FC236}">
                <a16:creationId xmlns:a16="http://schemas.microsoft.com/office/drawing/2014/main" id="{C7644597-286E-D53E-4B91-E554C0BC3C18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427" name="Google Shape;1427;p42">
              <a:extLst>
                <a:ext uri="{FF2B5EF4-FFF2-40B4-BE49-F238E27FC236}">
                  <a16:creationId xmlns:a16="http://schemas.microsoft.com/office/drawing/2014/main" id="{1F72C183-C454-C791-AFE2-1E6006D1EDD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2">
              <a:extLst>
                <a:ext uri="{FF2B5EF4-FFF2-40B4-BE49-F238E27FC236}">
                  <a16:creationId xmlns:a16="http://schemas.microsoft.com/office/drawing/2014/main" id="{406CE635-C511-55FD-D780-87E5DCDA632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9" name="Google Shape;1429;p42">
            <a:extLst>
              <a:ext uri="{FF2B5EF4-FFF2-40B4-BE49-F238E27FC236}">
                <a16:creationId xmlns:a16="http://schemas.microsoft.com/office/drawing/2014/main" id="{B303068A-1BF1-C063-A7FF-CE2D19E550FF}"/>
              </a:ext>
            </a:extLst>
          </p:cNvPr>
          <p:cNvGrpSpPr/>
          <p:nvPr/>
        </p:nvGrpSpPr>
        <p:grpSpPr>
          <a:xfrm>
            <a:off x="2830475" y="905613"/>
            <a:ext cx="76825" cy="76800"/>
            <a:chOff x="3104875" y="1099400"/>
            <a:chExt cx="76825" cy="76800"/>
          </a:xfrm>
        </p:grpSpPr>
        <p:sp>
          <p:nvSpPr>
            <p:cNvPr id="1430" name="Google Shape;1430;p42">
              <a:extLst>
                <a:ext uri="{FF2B5EF4-FFF2-40B4-BE49-F238E27FC236}">
                  <a16:creationId xmlns:a16="http://schemas.microsoft.com/office/drawing/2014/main" id="{AEA7095C-BB80-442D-5455-898202AE1F9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>
              <a:extLst>
                <a:ext uri="{FF2B5EF4-FFF2-40B4-BE49-F238E27FC236}">
                  <a16:creationId xmlns:a16="http://schemas.microsoft.com/office/drawing/2014/main" id="{3D8179A5-03A3-6F14-B41C-047D4D20B8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2" name="Google Shape;1432;p42">
            <a:extLst>
              <a:ext uri="{FF2B5EF4-FFF2-40B4-BE49-F238E27FC236}">
                <a16:creationId xmlns:a16="http://schemas.microsoft.com/office/drawing/2014/main" id="{986F91D0-A4BD-22D5-0C37-849D02366E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2250929" y="3556995"/>
            <a:ext cx="903665" cy="853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3" name="Google Shape;1433;p42">
            <a:extLst>
              <a:ext uri="{FF2B5EF4-FFF2-40B4-BE49-F238E27FC236}">
                <a16:creationId xmlns:a16="http://schemas.microsoft.com/office/drawing/2014/main" id="{ED09490E-5714-0176-76C1-987A1DD94348}"/>
              </a:ext>
            </a:extLst>
          </p:cNvPr>
          <p:cNvGrpSpPr/>
          <p:nvPr/>
        </p:nvGrpSpPr>
        <p:grpSpPr>
          <a:xfrm>
            <a:off x="1038925" y="3057463"/>
            <a:ext cx="76825" cy="76800"/>
            <a:chOff x="3104875" y="1099400"/>
            <a:chExt cx="76825" cy="76800"/>
          </a:xfrm>
        </p:grpSpPr>
        <p:sp>
          <p:nvSpPr>
            <p:cNvPr id="1434" name="Google Shape;1434;p42">
              <a:extLst>
                <a:ext uri="{FF2B5EF4-FFF2-40B4-BE49-F238E27FC236}">
                  <a16:creationId xmlns:a16="http://schemas.microsoft.com/office/drawing/2014/main" id="{923268CF-D074-5DC7-D6DD-D53325A77D8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2">
              <a:extLst>
                <a:ext uri="{FF2B5EF4-FFF2-40B4-BE49-F238E27FC236}">
                  <a16:creationId xmlns:a16="http://schemas.microsoft.com/office/drawing/2014/main" id="{E98F63E6-ED52-2F21-3288-E4020D9C991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>
            <a:extLst>
              <a:ext uri="{FF2B5EF4-FFF2-40B4-BE49-F238E27FC236}">
                <a16:creationId xmlns:a16="http://schemas.microsoft.com/office/drawing/2014/main" id="{F3565170-2E56-7F54-E5D9-B81C1302F874}"/>
              </a:ext>
            </a:extLst>
          </p:cNvPr>
          <p:cNvGrpSpPr/>
          <p:nvPr/>
        </p:nvGrpSpPr>
        <p:grpSpPr>
          <a:xfrm>
            <a:off x="7587300" y="4276238"/>
            <a:ext cx="76825" cy="76800"/>
            <a:chOff x="3104875" y="1099400"/>
            <a:chExt cx="76825" cy="76800"/>
          </a:xfrm>
        </p:grpSpPr>
        <p:sp>
          <p:nvSpPr>
            <p:cNvPr id="1437" name="Google Shape;1437;p42">
              <a:extLst>
                <a:ext uri="{FF2B5EF4-FFF2-40B4-BE49-F238E27FC236}">
                  <a16:creationId xmlns:a16="http://schemas.microsoft.com/office/drawing/2014/main" id="{3FA5F168-9F24-C55E-1535-FB366780ED6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>
              <a:extLst>
                <a:ext uri="{FF2B5EF4-FFF2-40B4-BE49-F238E27FC236}">
                  <a16:creationId xmlns:a16="http://schemas.microsoft.com/office/drawing/2014/main" id="{439ECE7B-F6B1-6EE5-AD4D-A56C88CFBAF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F6528EAB-A49F-4E9A-1391-2B436E353439}"/>
              </a:ext>
            </a:extLst>
          </p:cNvPr>
          <p:cNvSpPr txBox="1"/>
          <p:nvPr/>
        </p:nvSpPr>
        <p:spPr>
          <a:xfrm>
            <a:off x="3849403" y="1251132"/>
            <a:ext cx="4203426" cy="264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Datenerfassung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begrenzte Anzahl an Fehlerbeispielen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zeitintensive Bildaufnahme</a:t>
            </a:r>
          </a:p>
          <a:p>
            <a:pPr>
              <a:lnSpc>
                <a:spcPct val="150000"/>
              </a:lnSpc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Einfluss äußerer Faktoren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Beleuchtung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Kamerawinkel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Hintergrund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90626C-6846-FA0C-D2D2-5083E7EF1982}"/>
              </a:ext>
            </a:extLst>
          </p:cNvPr>
          <p:cNvSpPr txBox="1"/>
          <p:nvPr/>
        </p:nvSpPr>
        <p:spPr>
          <a:xfrm>
            <a:off x="687686" y="461496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de-DE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Erfassungsgrenzen</a:t>
            </a:r>
            <a:endParaRPr lang="de-DE" sz="1800" b="1" dirty="0">
              <a:solidFill>
                <a:schemeClr val="accent6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5F37B0-7FDF-5D0A-BFEA-004703C9D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55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>
          <a:extLst>
            <a:ext uri="{FF2B5EF4-FFF2-40B4-BE49-F238E27FC236}">
              <a16:creationId xmlns:a16="http://schemas.microsoft.com/office/drawing/2014/main" id="{78EE4A1B-A501-F47F-E3F3-DBDACEE6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45">
            <a:extLst>
              <a:ext uri="{FF2B5EF4-FFF2-40B4-BE49-F238E27FC236}">
                <a16:creationId xmlns:a16="http://schemas.microsoft.com/office/drawing/2014/main" id="{DDAB9F52-334D-8ADE-4D64-41816B124A06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582" name="Google Shape;1582;p45">
              <a:extLst>
                <a:ext uri="{FF2B5EF4-FFF2-40B4-BE49-F238E27FC236}">
                  <a16:creationId xmlns:a16="http://schemas.microsoft.com/office/drawing/2014/main" id="{05C6F4D2-686E-9CBB-A97C-9D1C156B990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5">
              <a:extLst>
                <a:ext uri="{FF2B5EF4-FFF2-40B4-BE49-F238E27FC236}">
                  <a16:creationId xmlns:a16="http://schemas.microsoft.com/office/drawing/2014/main" id="{EFB0BCF6-B696-A6C2-171E-65A3934087F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45">
            <a:extLst>
              <a:ext uri="{FF2B5EF4-FFF2-40B4-BE49-F238E27FC236}">
                <a16:creationId xmlns:a16="http://schemas.microsoft.com/office/drawing/2014/main" id="{9131A073-6846-930A-0260-091B741E5A7E}"/>
              </a:ext>
            </a:extLst>
          </p:cNvPr>
          <p:cNvGrpSpPr/>
          <p:nvPr/>
        </p:nvGrpSpPr>
        <p:grpSpPr>
          <a:xfrm>
            <a:off x="7739386" y="3998546"/>
            <a:ext cx="76825" cy="76800"/>
            <a:chOff x="3104875" y="1099400"/>
            <a:chExt cx="76825" cy="76800"/>
          </a:xfrm>
        </p:grpSpPr>
        <p:sp>
          <p:nvSpPr>
            <p:cNvPr id="1585" name="Google Shape;1585;p45">
              <a:extLst>
                <a:ext uri="{FF2B5EF4-FFF2-40B4-BE49-F238E27FC236}">
                  <a16:creationId xmlns:a16="http://schemas.microsoft.com/office/drawing/2014/main" id="{6981FFE3-855D-8A65-D78F-45BD396DA9D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5">
              <a:extLst>
                <a:ext uri="{FF2B5EF4-FFF2-40B4-BE49-F238E27FC236}">
                  <a16:creationId xmlns:a16="http://schemas.microsoft.com/office/drawing/2014/main" id="{8E116F5E-A430-7AC0-3E1A-9DB115F7817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45">
            <a:extLst>
              <a:ext uri="{FF2B5EF4-FFF2-40B4-BE49-F238E27FC236}">
                <a16:creationId xmlns:a16="http://schemas.microsoft.com/office/drawing/2014/main" id="{866898D2-1456-6FDF-93E3-28FABCB16318}"/>
              </a:ext>
            </a:extLst>
          </p:cNvPr>
          <p:cNvGrpSpPr/>
          <p:nvPr/>
        </p:nvGrpSpPr>
        <p:grpSpPr>
          <a:xfrm>
            <a:off x="6180225" y="982400"/>
            <a:ext cx="76825" cy="76800"/>
            <a:chOff x="3104875" y="1099400"/>
            <a:chExt cx="76825" cy="76800"/>
          </a:xfrm>
        </p:grpSpPr>
        <p:sp>
          <p:nvSpPr>
            <p:cNvPr id="1588" name="Google Shape;1588;p45">
              <a:extLst>
                <a:ext uri="{FF2B5EF4-FFF2-40B4-BE49-F238E27FC236}">
                  <a16:creationId xmlns:a16="http://schemas.microsoft.com/office/drawing/2014/main" id="{399AB14C-6790-A82D-4E2D-0A27B02F97A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5">
              <a:extLst>
                <a:ext uri="{FF2B5EF4-FFF2-40B4-BE49-F238E27FC236}">
                  <a16:creationId xmlns:a16="http://schemas.microsoft.com/office/drawing/2014/main" id="{699AECFE-F729-76EC-08D5-B06639DBBD7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0" name="Google Shape;1590;p45">
            <a:extLst>
              <a:ext uri="{FF2B5EF4-FFF2-40B4-BE49-F238E27FC236}">
                <a16:creationId xmlns:a16="http://schemas.microsoft.com/office/drawing/2014/main" id="{06F8A269-DAC5-31D7-9E06-499754B5B6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6603962" y="3986143"/>
            <a:ext cx="652202" cy="6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45">
            <a:extLst>
              <a:ext uri="{FF2B5EF4-FFF2-40B4-BE49-F238E27FC236}">
                <a16:creationId xmlns:a16="http://schemas.microsoft.com/office/drawing/2014/main" id="{B07FA10D-FA17-8C33-3009-1BFE3A439A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2268302">
            <a:off x="6849112" y="209824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ECC1EDD-BEDF-4717-BF51-B5FF771BBFBA}"/>
              </a:ext>
            </a:extLst>
          </p:cNvPr>
          <p:cNvSpPr txBox="1"/>
          <p:nvPr/>
        </p:nvSpPr>
        <p:spPr>
          <a:xfrm>
            <a:off x="2599459" y="1412715"/>
            <a:ext cx="3945082" cy="231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Training des Modells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Abhängigkeit von der Datenqualität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mögliche Über- oder Unteranpassung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de-DE" b="1" dirty="0">
                <a:solidFill>
                  <a:schemeClr val="accent6"/>
                </a:solidFill>
                <a:latin typeface="Montserrat" panose="00000500000000000000" pitchFamily="2" charset="0"/>
              </a:rPr>
              <a:t>Technische Grenzen</a:t>
            </a:r>
            <a:endParaRPr lang="de-DE" dirty="0">
              <a:solidFill>
                <a:schemeClr val="accent6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begrenzte Rechenleistung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accent6"/>
                </a:solidFill>
                <a:latin typeface="Montserrat" panose="00000500000000000000" pitchFamily="2" charset="0"/>
              </a:rPr>
              <a:t>Trainingsdauer</a:t>
            </a:r>
          </a:p>
        </p:txBody>
      </p:sp>
      <p:grpSp>
        <p:nvGrpSpPr>
          <p:cNvPr id="5" name="Google Shape;1048;p29">
            <a:extLst>
              <a:ext uri="{FF2B5EF4-FFF2-40B4-BE49-F238E27FC236}">
                <a16:creationId xmlns:a16="http://schemas.microsoft.com/office/drawing/2014/main" id="{DAEA817A-12AD-67DC-1F69-1B2045C53847}"/>
              </a:ext>
            </a:extLst>
          </p:cNvPr>
          <p:cNvGrpSpPr/>
          <p:nvPr/>
        </p:nvGrpSpPr>
        <p:grpSpPr>
          <a:xfrm rot="15271534">
            <a:off x="-1862070" y="2503762"/>
            <a:ext cx="5036265" cy="4113315"/>
            <a:chOff x="4780389" y="2513201"/>
            <a:chExt cx="5036265" cy="4113315"/>
          </a:xfrm>
        </p:grpSpPr>
        <p:grpSp>
          <p:nvGrpSpPr>
            <p:cNvPr id="6" name="Google Shape;1049;p29">
              <a:extLst>
                <a:ext uri="{FF2B5EF4-FFF2-40B4-BE49-F238E27FC236}">
                  <a16:creationId xmlns:a16="http://schemas.microsoft.com/office/drawing/2014/main" id="{A99B538D-317E-5288-231C-C7BCE71426B7}"/>
                </a:ext>
              </a:extLst>
            </p:cNvPr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" name="Google Shape;1050;p29">
                <a:extLst>
                  <a:ext uri="{FF2B5EF4-FFF2-40B4-BE49-F238E27FC236}">
                    <a16:creationId xmlns:a16="http://schemas.microsoft.com/office/drawing/2014/main" id="{59DA83CA-3B15-017C-8DF2-4F2163BF48A2}"/>
                  </a:ext>
                </a:extLst>
              </p:cNvPr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" name="Google Shape;1051;p29">
                <a:extLst>
                  <a:ext uri="{FF2B5EF4-FFF2-40B4-BE49-F238E27FC236}">
                    <a16:creationId xmlns:a16="http://schemas.microsoft.com/office/drawing/2014/main" id="{4C2B9D4E-8113-4D1C-4F31-4D46DDF6C105}"/>
                  </a:ext>
                </a:extLst>
              </p:cNvPr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2" name="Google Shape;1052;p29">
                  <a:extLst>
                    <a:ext uri="{FF2B5EF4-FFF2-40B4-BE49-F238E27FC236}">
                      <a16:creationId xmlns:a16="http://schemas.microsoft.com/office/drawing/2014/main" id="{5518D487-92D6-9F18-3217-EF398E587184}"/>
                    </a:ext>
                  </a:extLst>
                </p:cNvPr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1" name="Google Shape;1053;p29">
                    <a:extLst>
                      <a:ext uri="{FF2B5EF4-FFF2-40B4-BE49-F238E27FC236}">
                        <a16:creationId xmlns:a16="http://schemas.microsoft.com/office/drawing/2014/main" id="{F6305B8D-DFAA-AAE6-3D3E-C22270C4601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1054;p29">
                    <a:extLst>
                      <a:ext uri="{FF2B5EF4-FFF2-40B4-BE49-F238E27FC236}">
                        <a16:creationId xmlns:a16="http://schemas.microsoft.com/office/drawing/2014/main" id="{C98B48B0-F4CA-E541-760B-7BBC7DA0496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1055;p29">
                    <a:extLst>
                      <a:ext uri="{FF2B5EF4-FFF2-40B4-BE49-F238E27FC236}">
                        <a16:creationId xmlns:a16="http://schemas.microsoft.com/office/drawing/2014/main" id="{03BF86B8-BE91-9B73-0099-096028EFA1D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1056;p29">
                    <a:extLst>
                      <a:ext uri="{FF2B5EF4-FFF2-40B4-BE49-F238E27FC236}">
                        <a16:creationId xmlns:a16="http://schemas.microsoft.com/office/drawing/2014/main" id="{CF83E485-3D81-E400-5D36-9A87C675144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1057;p29">
                    <a:extLst>
                      <a:ext uri="{FF2B5EF4-FFF2-40B4-BE49-F238E27FC236}">
                        <a16:creationId xmlns:a16="http://schemas.microsoft.com/office/drawing/2014/main" id="{F8FEDCC7-F697-C90E-C0AA-458C85CDF5AC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1058;p29">
                    <a:extLst>
                      <a:ext uri="{FF2B5EF4-FFF2-40B4-BE49-F238E27FC236}">
                        <a16:creationId xmlns:a16="http://schemas.microsoft.com/office/drawing/2014/main" id="{1FF587DB-F0E0-6BED-AB62-44396D2AB696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1059;p29">
                    <a:extLst>
                      <a:ext uri="{FF2B5EF4-FFF2-40B4-BE49-F238E27FC236}">
                        <a16:creationId xmlns:a16="http://schemas.microsoft.com/office/drawing/2014/main" id="{E13152B8-CE9F-6212-45ED-E6B222A1C4A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1060;p29">
                    <a:extLst>
                      <a:ext uri="{FF2B5EF4-FFF2-40B4-BE49-F238E27FC236}">
                        <a16:creationId xmlns:a16="http://schemas.microsoft.com/office/drawing/2014/main" id="{F4593FEE-CDB2-C78D-1483-95F0126907AB}"/>
                      </a:ext>
                    </a:extLst>
                  </p:cNvPr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1061;p29">
                    <a:extLst>
                      <a:ext uri="{FF2B5EF4-FFF2-40B4-BE49-F238E27FC236}">
                        <a16:creationId xmlns:a16="http://schemas.microsoft.com/office/drawing/2014/main" id="{ACB63C43-B71E-647B-D129-9C6135518691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1062;p29">
                    <a:extLst>
                      <a:ext uri="{FF2B5EF4-FFF2-40B4-BE49-F238E27FC236}">
                        <a16:creationId xmlns:a16="http://schemas.microsoft.com/office/drawing/2014/main" id="{6DD1F577-1279-7E51-5A1D-76FF00C91C9E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1063;p29">
                    <a:extLst>
                      <a:ext uri="{FF2B5EF4-FFF2-40B4-BE49-F238E27FC236}">
                        <a16:creationId xmlns:a16="http://schemas.microsoft.com/office/drawing/2014/main" id="{E0FC23B4-2BA2-8AA2-E1D9-845716FA169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1064;p29">
                    <a:extLst>
                      <a:ext uri="{FF2B5EF4-FFF2-40B4-BE49-F238E27FC236}">
                        <a16:creationId xmlns:a16="http://schemas.microsoft.com/office/drawing/2014/main" id="{66160FD1-4F1B-D8B6-0FE2-68FD99422E23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1065;p29">
                    <a:extLst>
                      <a:ext uri="{FF2B5EF4-FFF2-40B4-BE49-F238E27FC236}">
                        <a16:creationId xmlns:a16="http://schemas.microsoft.com/office/drawing/2014/main" id="{C760789E-A2A0-ACB1-8B2F-1852CCC4D2D7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1066;p29">
                    <a:extLst>
                      <a:ext uri="{FF2B5EF4-FFF2-40B4-BE49-F238E27FC236}">
                        <a16:creationId xmlns:a16="http://schemas.microsoft.com/office/drawing/2014/main" id="{0B7A7375-F40B-A4E3-79D4-743C3624B9F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1067;p29">
                    <a:extLst>
                      <a:ext uri="{FF2B5EF4-FFF2-40B4-BE49-F238E27FC236}">
                        <a16:creationId xmlns:a16="http://schemas.microsoft.com/office/drawing/2014/main" id="{1F180744-EC5E-377D-150F-CF299AD2AD0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1068;p29">
                    <a:extLst>
                      <a:ext uri="{FF2B5EF4-FFF2-40B4-BE49-F238E27FC236}">
                        <a16:creationId xmlns:a16="http://schemas.microsoft.com/office/drawing/2014/main" id="{33B816AD-B345-A781-77D4-296CA53709D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1069;p29">
                    <a:extLst>
                      <a:ext uri="{FF2B5EF4-FFF2-40B4-BE49-F238E27FC236}">
                        <a16:creationId xmlns:a16="http://schemas.microsoft.com/office/drawing/2014/main" id="{A604552E-2BE1-AB7C-F69A-60E5B53C980D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1070;p29">
                    <a:extLst>
                      <a:ext uri="{FF2B5EF4-FFF2-40B4-BE49-F238E27FC236}">
                        <a16:creationId xmlns:a16="http://schemas.microsoft.com/office/drawing/2014/main" id="{1571E13A-FF71-A6A8-07AA-0A79DF27881E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1071;p29">
                    <a:extLst>
                      <a:ext uri="{FF2B5EF4-FFF2-40B4-BE49-F238E27FC236}">
                        <a16:creationId xmlns:a16="http://schemas.microsoft.com/office/drawing/2014/main" id="{D7BBCB62-98F0-E2E0-E8DF-B92351A2BF0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1072;p29">
                    <a:extLst>
                      <a:ext uri="{FF2B5EF4-FFF2-40B4-BE49-F238E27FC236}">
                        <a16:creationId xmlns:a16="http://schemas.microsoft.com/office/drawing/2014/main" id="{5129C19F-BDA2-BEA5-2699-F0EB65A0F7E5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1073;p29">
                    <a:extLst>
                      <a:ext uri="{FF2B5EF4-FFF2-40B4-BE49-F238E27FC236}">
                        <a16:creationId xmlns:a16="http://schemas.microsoft.com/office/drawing/2014/main" id="{AF4728A5-6D61-56F8-10FB-6D1ACEA405E0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1074;p29">
                    <a:extLst>
                      <a:ext uri="{FF2B5EF4-FFF2-40B4-BE49-F238E27FC236}">
                        <a16:creationId xmlns:a16="http://schemas.microsoft.com/office/drawing/2014/main" id="{3B5B088A-5DDB-464A-8953-8B740B94756A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1075;p29">
                    <a:extLst>
                      <a:ext uri="{FF2B5EF4-FFF2-40B4-BE49-F238E27FC236}">
                        <a16:creationId xmlns:a16="http://schemas.microsoft.com/office/drawing/2014/main" id="{823094C2-E243-C37C-AB70-ADB3CCF97CB9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" name="Google Shape;1076;p29">
                    <a:extLst>
                      <a:ext uri="{FF2B5EF4-FFF2-40B4-BE49-F238E27FC236}">
                        <a16:creationId xmlns:a16="http://schemas.microsoft.com/office/drawing/2014/main" id="{38FA00A9-AEE3-3E4C-2AAD-9A2F4EF10BFC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1077;p29">
                    <a:extLst>
                      <a:ext uri="{FF2B5EF4-FFF2-40B4-BE49-F238E27FC236}">
                        <a16:creationId xmlns:a16="http://schemas.microsoft.com/office/drawing/2014/main" id="{EDC68488-165F-F741-E717-FAC09E9491F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1078;p29">
                    <a:extLst>
                      <a:ext uri="{FF2B5EF4-FFF2-40B4-BE49-F238E27FC236}">
                        <a16:creationId xmlns:a16="http://schemas.microsoft.com/office/drawing/2014/main" id="{187E2DAF-C51F-FA58-82AE-99A4435D00DF}"/>
                      </a:ext>
                    </a:extLst>
                  </p:cNvPr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1079;p29">
                    <a:extLst>
                      <a:ext uri="{FF2B5EF4-FFF2-40B4-BE49-F238E27FC236}">
                        <a16:creationId xmlns:a16="http://schemas.microsoft.com/office/drawing/2014/main" id="{14D78F27-2B91-24E6-BCC3-F800A83E8271}"/>
                      </a:ext>
                    </a:extLst>
                  </p:cNvPr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" name="Google Shape;1080;p29">
                    <a:extLst>
                      <a:ext uri="{FF2B5EF4-FFF2-40B4-BE49-F238E27FC236}">
                        <a16:creationId xmlns:a16="http://schemas.microsoft.com/office/drawing/2014/main" id="{7822A808-7884-99B2-3C6A-E8931D449622}"/>
                      </a:ext>
                    </a:extLst>
                  </p:cNvPr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" name="Google Shape;1081;p29">
                  <a:extLst>
                    <a:ext uri="{FF2B5EF4-FFF2-40B4-BE49-F238E27FC236}">
                      <a16:creationId xmlns:a16="http://schemas.microsoft.com/office/drawing/2014/main" id="{BEC893B0-0A2D-2A84-403D-DC57F8EC2479}"/>
                    </a:ext>
                  </a:extLst>
                </p:cNvPr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082;p29">
                  <a:extLst>
                    <a:ext uri="{FF2B5EF4-FFF2-40B4-BE49-F238E27FC236}">
                      <a16:creationId xmlns:a16="http://schemas.microsoft.com/office/drawing/2014/main" id="{9A0B21C2-56F7-C7F1-F752-85FF22448847}"/>
                    </a:ext>
                  </a:extLst>
                </p:cNvPr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083;p29">
                  <a:extLst>
                    <a:ext uri="{FF2B5EF4-FFF2-40B4-BE49-F238E27FC236}">
                      <a16:creationId xmlns:a16="http://schemas.microsoft.com/office/drawing/2014/main" id="{590B6E2D-8D5A-4658-3E7F-880AB075E2AF}"/>
                    </a:ext>
                  </a:extLst>
                </p:cNvPr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084;p29">
                  <a:extLst>
                    <a:ext uri="{FF2B5EF4-FFF2-40B4-BE49-F238E27FC236}">
                      <a16:creationId xmlns:a16="http://schemas.microsoft.com/office/drawing/2014/main" id="{12E370FE-367F-BA07-E3C0-3FE4228A7A6F}"/>
                    </a:ext>
                  </a:extLst>
                </p:cNvPr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085;p29">
                  <a:extLst>
                    <a:ext uri="{FF2B5EF4-FFF2-40B4-BE49-F238E27FC236}">
                      <a16:creationId xmlns:a16="http://schemas.microsoft.com/office/drawing/2014/main" id="{F2423D72-7C0F-DD2B-E62A-801C8A621C86}"/>
                    </a:ext>
                  </a:extLst>
                </p:cNvPr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086;p29">
                  <a:extLst>
                    <a:ext uri="{FF2B5EF4-FFF2-40B4-BE49-F238E27FC236}">
                      <a16:creationId xmlns:a16="http://schemas.microsoft.com/office/drawing/2014/main" id="{99B4B3C4-BF3A-2EC9-BDAC-B2F556C14540}"/>
                    </a:ext>
                  </a:extLst>
                </p:cNvPr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087;p29">
                  <a:extLst>
                    <a:ext uri="{FF2B5EF4-FFF2-40B4-BE49-F238E27FC236}">
                      <a16:creationId xmlns:a16="http://schemas.microsoft.com/office/drawing/2014/main" id="{D85AFFD1-02CD-534D-28F6-5E08061CCAAC}"/>
                    </a:ext>
                  </a:extLst>
                </p:cNvPr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1088;p29">
                  <a:extLst>
                    <a:ext uri="{FF2B5EF4-FFF2-40B4-BE49-F238E27FC236}">
                      <a16:creationId xmlns:a16="http://schemas.microsoft.com/office/drawing/2014/main" id="{D247614B-8DDA-583A-AD8C-CD16FCC67732}"/>
                    </a:ext>
                  </a:extLst>
                </p:cNvPr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" name="Google Shape;1089;p29">
              <a:extLst>
                <a:ext uri="{FF2B5EF4-FFF2-40B4-BE49-F238E27FC236}">
                  <a16:creationId xmlns:a16="http://schemas.microsoft.com/office/drawing/2014/main" id="{DCAC08B7-CC00-B42E-6A9A-F1DF5B447F79}"/>
                </a:ext>
              </a:extLst>
            </p:cNvPr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90;p29">
              <a:extLst>
                <a:ext uri="{FF2B5EF4-FFF2-40B4-BE49-F238E27FC236}">
                  <a16:creationId xmlns:a16="http://schemas.microsoft.com/office/drawing/2014/main" id="{0ABF2AD6-8F31-D7D1-D6EF-EAD81AFA9D19}"/>
                </a:ext>
              </a:extLst>
            </p:cNvPr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91;p29">
              <a:extLst>
                <a:ext uri="{FF2B5EF4-FFF2-40B4-BE49-F238E27FC236}">
                  <a16:creationId xmlns:a16="http://schemas.microsoft.com/office/drawing/2014/main" id="{F42C2199-4D43-772B-64A5-958C142D9CEC}"/>
                </a:ext>
              </a:extLst>
            </p:cNvPr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" name="Google Shape;1590;p45">
            <a:extLst>
              <a:ext uri="{FF2B5EF4-FFF2-40B4-BE49-F238E27FC236}">
                <a16:creationId xmlns:a16="http://schemas.microsoft.com/office/drawing/2014/main" id="{D85B2924-8D7C-E5DF-711A-B3F55E05FD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3282827">
            <a:off x="531678" y="962569"/>
            <a:ext cx="652202" cy="616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1584;p45">
            <a:extLst>
              <a:ext uri="{FF2B5EF4-FFF2-40B4-BE49-F238E27FC236}">
                <a16:creationId xmlns:a16="http://schemas.microsoft.com/office/drawing/2014/main" id="{92B674E9-3785-85A4-AF36-676DC82DD910}"/>
              </a:ext>
            </a:extLst>
          </p:cNvPr>
          <p:cNvGrpSpPr/>
          <p:nvPr/>
        </p:nvGrpSpPr>
        <p:grpSpPr>
          <a:xfrm>
            <a:off x="8086050" y="2917325"/>
            <a:ext cx="76825" cy="76800"/>
            <a:chOff x="3104875" y="1099400"/>
            <a:chExt cx="76825" cy="76800"/>
          </a:xfrm>
        </p:grpSpPr>
        <p:sp>
          <p:nvSpPr>
            <p:cNvPr id="51" name="Google Shape;1585;p45">
              <a:extLst>
                <a:ext uri="{FF2B5EF4-FFF2-40B4-BE49-F238E27FC236}">
                  <a16:creationId xmlns:a16="http://schemas.microsoft.com/office/drawing/2014/main" id="{5936B0B5-7BD3-C001-ED93-C6390816685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86;p45">
              <a:extLst>
                <a:ext uri="{FF2B5EF4-FFF2-40B4-BE49-F238E27FC236}">
                  <a16:creationId xmlns:a16="http://schemas.microsoft.com/office/drawing/2014/main" id="{25FA2ECE-3FE2-3F07-D7AE-FF6948DE244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838094A4-AA76-5467-336E-17BA4B0EE3F1}"/>
              </a:ext>
            </a:extLst>
          </p:cNvPr>
          <p:cNvSpPr txBox="1"/>
          <p:nvPr/>
        </p:nvSpPr>
        <p:spPr>
          <a:xfrm>
            <a:off x="687686" y="461496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chemeClr val="accent6"/>
                </a:solidFill>
                <a:latin typeface="Montserrat" panose="00000500000000000000" pitchFamily="2" charset="0"/>
              </a:rPr>
              <a:t>Technische Limits</a:t>
            </a:r>
          </a:p>
        </p:txBody>
      </p:sp>
    </p:spTree>
    <p:extLst>
      <p:ext uri="{BB962C8B-B14F-4D97-AF65-F5344CB8AC3E}">
        <p14:creationId xmlns:p14="http://schemas.microsoft.com/office/powerpoint/2010/main" val="1469030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>
          <a:extLst>
            <a:ext uri="{FF2B5EF4-FFF2-40B4-BE49-F238E27FC236}">
              <a16:creationId xmlns:a16="http://schemas.microsoft.com/office/drawing/2014/main" id="{416C9DA7-9105-32EB-5860-675BB653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40">
            <a:extLst>
              <a:ext uri="{FF2B5EF4-FFF2-40B4-BE49-F238E27FC236}">
                <a16:creationId xmlns:a16="http://schemas.microsoft.com/office/drawing/2014/main" id="{43EC0A90-B378-125E-08C0-C4C032C8DD1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1496250"/>
            <a:ext cx="149186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1385" name="Google Shape;1385;p40">
            <a:extLst>
              <a:ext uri="{FF2B5EF4-FFF2-40B4-BE49-F238E27FC236}">
                <a16:creationId xmlns:a16="http://schemas.microsoft.com/office/drawing/2014/main" id="{30BAF527-D63D-58FC-BE61-FA76F938B5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040137" y="27193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40">
            <a:extLst>
              <a:ext uri="{FF2B5EF4-FFF2-40B4-BE49-F238E27FC236}">
                <a16:creationId xmlns:a16="http://schemas.microsoft.com/office/drawing/2014/main" id="{BBC4F143-D651-38E2-40D2-1648CB9632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6447085" y="36519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40">
            <a:extLst>
              <a:ext uri="{FF2B5EF4-FFF2-40B4-BE49-F238E27FC236}">
                <a16:creationId xmlns:a16="http://schemas.microsoft.com/office/drawing/2014/main" id="{6903AC7B-7A0F-038C-CAC8-CBAB9D3743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6035249" y="2518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>
            <a:extLst>
              <a:ext uri="{FF2B5EF4-FFF2-40B4-BE49-F238E27FC236}">
                <a16:creationId xmlns:a16="http://schemas.microsoft.com/office/drawing/2014/main" id="{9B987EAD-7E46-0DDA-91DB-1C1E5693093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940349" y="553959"/>
            <a:ext cx="1552575" cy="13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0">
            <a:extLst>
              <a:ext uri="{FF2B5EF4-FFF2-40B4-BE49-F238E27FC236}">
                <a16:creationId xmlns:a16="http://schemas.microsoft.com/office/drawing/2014/main" id="{E4DF3B77-BD9D-E589-0E85-969F29F8F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Ergebnisse</a:t>
            </a:r>
            <a:endParaRPr dirty="0"/>
          </a:p>
        </p:txBody>
      </p:sp>
      <p:grpSp>
        <p:nvGrpSpPr>
          <p:cNvPr id="1390" name="Google Shape;1390;p40">
            <a:extLst>
              <a:ext uri="{FF2B5EF4-FFF2-40B4-BE49-F238E27FC236}">
                <a16:creationId xmlns:a16="http://schemas.microsoft.com/office/drawing/2014/main" id="{73309CA6-30C6-1424-B8E4-F30DF92BECAC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91" name="Google Shape;1391;p40">
              <a:extLst>
                <a:ext uri="{FF2B5EF4-FFF2-40B4-BE49-F238E27FC236}">
                  <a16:creationId xmlns:a16="http://schemas.microsoft.com/office/drawing/2014/main" id="{4297A71B-B12E-526D-2100-468B984B52C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>
              <a:extLst>
                <a:ext uri="{FF2B5EF4-FFF2-40B4-BE49-F238E27FC236}">
                  <a16:creationId xmlns:a16="http://schemas.microsoft.com/office/drawing/2014/main" id="{BB268D1E-7FFD-3D72-A7B4-FD1A5A9E0FB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40">
            <a:extLst>
              <a:ext uri="{FF2B5EF4-FFF2-40B4-BE49-F238E27FC236}">
                <a16:creationId xmlns:a16="http://schemas.microsoft.com/office/drawing/2014/main" id="{2E20258E-9196-7AAE-6114-CC409094F40D}"/>
              </a:ext>
            </a:extLst>
          </p:cNvPr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>
              <a:extLst>
                <a:ext uri="{FF2B5EF4-FFF2-40B4-BE49-F238E27FC236}">
                  <a16:creationId xmlns:a16="http://schemas.microsoft.com/office/drawing/2014/main" id="{B950E7A0-0E71-C5D7-9D94-70C912E1723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>
              <a:extLst>
                <a:ext uri="{FF2B5EF4-FFF2-40B4-BE49-F238E27FC236}">
                  <a16:creationId xmlns:a16="http://schemas.microsoft.com/office/drawing/2014/main" id="{159BAC5D-E663-976B-31C1-73DDFA7A1E7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>
            <a:extLst>
              <a:ext uri="{FF2B5EF4-FFF2-40B4-BE49-F238E27FC236}">
                <a16:creationId xmlns:a16="http://schemas.microsoft.com/office/drawing/2014/main" id="{9B07E3D9-C1DA-875E-52BA-30B3B0D6BBAF}"/>
              </a:ext>
            </a:extLst>
          </p:cNvPr>
          <p:cNvGrpSpPr/>
          <p:nvPr/>
        </p:nvGrpSpPr>
        <p:grpSpPr>
          <a:xfrm>
            <a:off x="2400025" y="1210988"/>
            <a:ext cx="76825" cy="76800"/>
            <a:chOff x="3104875" y="1099400"/>
            <a:chExt cx="76825" cy="76800"/>
          </a:xfrm>
        </p:grpSpPr>
        <p:sp>
          <p:nvSpPr>
            <p:cNvPr id="1397" name="Google Shape;1397;p40">
              <a:extLst>
                <a:ext uri="{FF2B5EF4-FFF2-40B4-BE49-F238E27FC236}">
                  <a16:creationId xmlns:a16="http://schemas.microsoft.com/office/drawing/2014/main" id="{B3243437-4CD5-49E3-6C1A-D56AF5BAC86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>
              <a:extLst>
                <a:ext uri="{FF2B5EF4-FFF2-40B4-BE49-F238E27FC236}">
                  <a16:creationId xmlns:a16="http://schemas.microsoft.com/office/drawing/2014/main" id="{15EE9D3C-99FF-D681-264E-DD0FF66C793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99" name="Google Shape;1399;p40">
            <a:extLst>
              <a:ext uri="{FF2B5EF4-FFF2-40B4-BE49-F238E27FC236}">
                <a16:creationId xmlns:a16="http://schemas.microsoft.com/office/drawing/2014/main" id="{0DF2D2AA-906F-70E7-CC6B-C7295653BA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C524E76-77B5-F6AB-5F56-F5DD1CE4F33C}"/>
              </a:ext>
            </a:extLst>
          </p:cNvPr>
          <p:cNvSpPr txBox="1"/>
          <p:nvPr/>
        </p:nvSpPr>
        <p:spPr>
          <a:xfrm>
            <a:off x="720000" y="3266264"/>
            <a:ext cx="579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Analyse und Bewertung der erzielten Ergebnisse</a:t>
            </a:r>
          </a:p>
        </p:txBody>
      </p:sp>
    </p:spTree>
    <p:extLst>
      <p:ext uri="{BB962C8B-B14F-4D97-AF65-F5344CB8AC3E}">
        <p14:creationId xmlns:p14="http://schemas.microsoft.com/office/powerpoint/2010/main" val="1013360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41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41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4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4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09" name="Google Shape;140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1" name="Google Shape;1411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72D760B8-02F0-B701-6B02-D5702995B93F}"/>
              </a:ext>
            </a:extLst>
          </p:cNvPr>
          <p:cNvSpPr txBox="1"/>
          <p:nvPr/>
        </p:nvSpPr>
        <p:spPr>
          <a:xfrm>
            <a:off x="2424545" y="2156251"/>
            <a:ext cx="4294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>
                <a:solidFill>
                  <a:schemeClr val="tx1"/>
                </a:solidFill>
                <a:latin typeface="Montserrat" panose="00000500000000000000" pitchFamily="2" charset="0"/>
              </a:rPr>
              <a:t>Vorstellung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4">
          <a:extLst>
            <a:ext uri="{FF2B5EF4-FFF2-40B4-BE49-F238E27FC236}">
              <a16:creationId xmlns:a16="http://schemas.microsoft.com/office/drawing/2014/main" id="{B99A5E48-11D9-64D3-BE8F-FDF788BC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47">
            <a:extLst>
              <a:ext uri="{FF2B5EF4-FFF2-40B4-BE49-F238E27FC236}">
                <a16:creationId xmlns:a16="http://schemas.microsoft.com/office/drawing/2014/main" id="{ABA00281-4D8D-4862-6F42-47756B896BBF}"/>
              </a:ext>
            </a:extLst>
          </p:cNvPr>
          <p:cNvGrpSpPr/>
          <p:nvPr/>
        </p:nvGrpSpPr>
        <p:grpSpPr>
          <a:xfrm>
            <a:off x="372531" y="4549142"/>
            <a:ext cx="76825" cy="76800"/>
            <a:chOff x="3104875" y="1099400"/>
            <a:chExt cx="76825" cy="76800"/>
          </a:xfrm>
        </p:grpSpPr>
        <p:sp>
          <p:nvSpPr>
            <p:cNvPr id="1622" name="Google Shape;1622;p47">
              <a:extLst>
                <a:ext uri="{FF2B5EF4-FFF2-40B4-BE49-F238E27FC236}">
                  <a16:creationId xmlns:a16="http://schemas.microsoft.com/office/drawing/2014/main" id="{BFD33A8A-2456-9AEB-7059-193CE93B883E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>
              <a:extLst>
                <a:ext uri="{FF2B5EF4-FFF2-40B4-BE49-F238E27FC236}">
                  <a16:creationId xmlns:a16="http://schemas.microsoft.com/office/drawing/2014/main" id="{00485AD7-731F-70C3-B775-C0D09474099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47">
            <a:extLst>
              <a:ext uri="{FF2B5EF4-FFF2-40B4-BE49-F238E27FC236}">
                <a16:creationId xmlns:a16="http://schemas.microsoft.com/office/drawing/2014/main" id="{057D48BA-0EF0-8959-7342-2128FA8DEFB5}"/>
              </a:ext>
            </a:extLst>
          </p:cNvPr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5" name="Google Shape;1625;p47">
              <a:extLst>
                <a:ext uri="{FF2B5EF4-FFF2-40B4-BE49-F238E27FC236}">
                  <a16:creationId xmlns:a16="http://schemas.microsoft.com/office/drawing/2014/main" id="{41C33D36-A481-DF0E-133D-F912B854795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>
              <a:extLst>
                <a:ext uri="{FF2B5EF4-FFF2-40B4-BE49-F238E27FC236}">
                  <a16:creationId xmlns:a16="http://schemas.microsoft.com/office/drawing/2014/main" id="{6E37B37D-68F2-92BC-BEB4-EA7E915C03B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>
            <a:extLst>
              <a:ext uri="{FF2B5EF4-FFF2-40B4-BE49-F238E27FC236}">
                <a16:creationId xmlns:a16="http://schemas.microsoft.com/office/drawing/2014/main" id="{82FEB932-089D-7F1C-AAC9-02A5F2CBB561}"/>
              </a:ext>
            </a:extLst>
          </p:cNvPr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28" name="Google Shape;1628;p47">
              <a:extLst>
                <a:ext uri="{FF2B5EF4-FFF2-40B4-BE49-F238E27FC236}">
                  <a16:creationId xmlns:a16="http://schemas.microsoft.com/office/drawing/2014/main" id="{608C6A7F-23C7-A548-71EB-2799F2B1355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>
              <a:extLst>
                <a:ext uri="{FF2B5EF4-FFF2-40B4-BE49-F238E27FC236}">
                  <a16:creationId xmlns:a16="http://schemas.microsoft.com/office/drawing/2014/main" id="{940BAE85-F41E-CC21-721B-1A985508EAA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0" name="Google Shape;1630;p47">
            <a:extLst>
              <a:ext uri="{FF2B5EF4-FFF2-40B4-BE49-F238E27FC236}">
                <a16:creationId xmlns:a16="http://schemas.microsoft.com/office/drawing/2014/main" id="{41520D5C-4915-084B-C9B2-ECC48458DD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47">
            <a:extLst>
              <a:ext uri="{FF2B5EF4-FFF2-40B4-BE49-F238E27FC236}">
                <a16:creationId xmlns:a16="http://schemas.microsoft.com/office/drawing/2014/main" id="{CC5CCAE5-CFD3-8FD9-1BD5-D1E8ABFCF8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47">
            <a:extLst>
              <a:ext uri="{FF2B5EF4-FFF2-40B4-BE49-F238E27FC236}">
                <a16:creationId xmlns:a16="http://schemas.microsoft.com/office/drawing/2014/main" id="{6A8648DE-A3DE-9C57-ACA0-41DB37B47F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065060" y="4160637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47">
            <a:extLst>
              <a:ext uri="{FF2B5EF4-FFF2-40B4-BE49-F238E27FC236}">
                <a16:creationId xmlns:a16="http://schemas.microsoft.com/office/drawing/2014/main" id="{C7FC3BDF-85EF-F25B-9044-CD9E96307B3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6056860" y="3472212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8C03AD9-ED3F-85EC-0A0A-BFBAC2E80C32}"/>
              </a:ext>
            </a:extLst>
          </p:cNvPr>
          <p:cNvSpPr txBox="1"/>
          <p:nvPr/>
        </p:nvSpPr>
        <p:spPr>
          <a:xfrm>
            <a:off x="808462" y="506175"/>
            <a:ext cx="4765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accent6"/>
                </a:solidFill>
                <a:latin typeface="Montserrat" panose="00000500000000000000" pitchFamily="2" charset="0"/>
              </a:rPr>
              <a:t>Ausblick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639757B-1FFD-73F4-701F-B3C225798AD6}"/>
              </a:ext>
            </a:extLst>
          </p:cNvPr>
          <p:cNvSpPr txBox="1"/>
          <p:nvPr/>
        </p:nvSpPr>
        <p:spPr>
          <a:xfrm>
            <a:off x="1516892" y="1695484"/>
            <a:ext cx="4440383" cy="1752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Erweiterung des Datensatzes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Maschine Learning implementieren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Echtzeitprüfung während der Produktion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●"/>
            </a:pPr>
            <a:r>
              <a:rPr lang="de-DE" dirty="0">
                <a:solidFill>
                  <a:schemeClr val="tx1"/>
                </a:solidFill>
                <a:latin typeface="Montserrat" panose="00000500000000000000" pitchFamily="2" charset="0"/>
              </a:rPr>
              <a:t>Erkennung zusätzlicher Fehlerarten</a:t>
            </a:r>
          </a:p>
        </p:txBody>
      </p:sp>
    </p:spTree>
    <p:extLst>
      <p:ext uri="{BB962C8B-B14F-4D97-AF65-F5344CB8AC3E}">
        <p14:creationId xmlns:p14="http://schemas.microsoft.com/office/powerpoint/2010/main" val="2743910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eoplayback">
            <a:hlinkClick r:id="" action="ppaction://media"/>
            <a:extLst>
              <a:ext uri="{FF2B5EF4-FFF2-40B4-BE49-F238E27FC236}">
                <a16:creationId xmlns:a16="http://schemas.microsoft.com/office/drawing/2014/main" id="{CD2E9F79-A587-C037-7599-8FB7942069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7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46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4099849" y="-38186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46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6939188">
            <a:off x="603297" y="3412299"/>
            <a:ext cx="1552576" cy="13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" name="Google Shape;1598;p46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3711104" y="521270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46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7152235" y="3461350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p46"/>
          <p:cNvGrpSpPr/>
          <p:nvPr/>
        </p:nvGrpSpPr>
        <p:grpSpPr>
          <a:xfrm>
            <a:off x="2447900" y="1156975"/>
            <a:ext cx="76825" cy="76800"/>
            <a:chOff x="3104875" y="1099400"/>
            <a:chExt cx="76825" cy="76800"/>
          </a:xfrm>
        </p:grpSpPr>
        <p:sp>
          <p:nvSpPr>
            <p:cNvPr id="1603" name="Google Shape;1603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5" name="Google Shape;1605;p46"/>
          <p:cNvGrpSpPr/>
          <p:nvPr/>
        </p:nvGrpSpPr>
        <p:grpSpPr>
          <a:xfrm>
            <a:off x="4889800" y="4015138"/>
            <a:ext cx="76825" cy="76800"/>
            <a:chOff x="3104875" y="1099400"/>
            <a:chExt cx="76825" cy="76800"/>
          </a:xfrm>
        </p:grpSpPr>
        <p:sp>
          <p:nvSpPr>
            <p:cNvPr id="1606" name="Google Shape;1606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8" name="Google Shape;1608;p46"/>
          <p:cNvGrpSpPr/>
          <p:nvPr/>
        </p:nvGrpSpPr>
        <p:grpSpPr>
          <a:xfrm>
            <a:off x="6434350" y="909775"/>
            <a:ext cx="76825" cy="76800"/>
            <a:chOff x="3104875" y="1099400"/>
            <a:chExt cx="76825" cy="76800"/>
          </a:xfrm>
        </p:grpSpPr>
        <p:sp>
          <p:nvSpPr>
            <p:cNvPr id="1609" name="Google Shape;1609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DE9F0D7E-832F-ADAD-C17C-0E2AC3FB9CDA}"/>
              </a:ext>
            </a:extLst>
          </p:cNvPr>
          <p:cNvSpPr txBox="1"/>
          <p:nvPr/>
        </p:nvSpPr>
        <p:spPr>
          <a:xfrm>
            <a:off x="1541318" y="1848475"/>
            <a:ext cx="6061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tx1"/>
                </a:solidFill>
                <a:latin typeface="Montserrat" panose="00000500000000000000" pitchFamily="2" charset="0"/>
              </a:rPr>
              <a:t>Vielen Dank für die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Bildschirmpräsentation (16:9)</PresentationFormat>
  <Paragraphs>120</Paragraphs>
  <Slides>28</Slides>
  <Notes>27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5" baseType="lpstr">
      <vt:lpstr>Montserrat Black</vt:lpstr>
      <vt:lpstr>Bebas Neue</vt:lpstr>
      <vt:lpstr>Montserrat</vt:lpstr>
      <vt:lpstr>Anaheim</vt:lpstr>
      <vt:lpstr>Arial</vt:lpstr>
      <vt:lpstr>PT Sans</vt:lpstr>
      <vt:lpstr>Artificial Intelligence (AI) Technology Consulting by Slidesgo</vt:lpstr>
      <vt:lpstr>Mobile Bildverarbeitung zur Fehlererkennung und  -klassifizierung in der Produktion</vt:lpstr>
      <vt:lpstr>Gliederung</vt:lpstr>
      <vt:lpstr>01</vt:lpstr>
      <vt:lpstr>PowerPoint-Präsentation</vt:lpstr>
      <vt:lpstr>PowerPoint-Präsentation</vt:lpstr>
      <vt:lpstr>PowerPoint-Präsentation</vt:lpstr>
      <vt:lpstr>PowerPoint-Präsentation</vt:lpstr>
      <vt:lpstr>02</vt:lpstr>
      <vt:lpstr>PowerPoint-Präsentation</vt:lpstr>
      <vt:lpstr>PowerPoint-Präsentation</vt:lpstr>
      <vt:lpstr>PowerPoint-Präsentation</vt:lpstr>
      <vt:lpstr>Was ist ”YOLO”</vt:lpstr>
      <vt:lpstr>03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04</vt:lpstr>
      <vt:lpstr>PowerPoint-Präsentation</vt:lpstr>
      <vt:lpstr>PowerPoint-Präsentation</vt:lpstr>
      <vt:lpstr>05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Noel Sappeck</dc:creator>
  <cp:lastModifiedBy>Steffen Klingberg</cp:lastModifiedBy>
  <cp:revision>30</cp:revision>
  <dcterms:modified xsi:type="dcterms:W3CDTF">2026-03-12T12:31:43Z</dcterms:modified>
</cp:coreProperties>
</file>